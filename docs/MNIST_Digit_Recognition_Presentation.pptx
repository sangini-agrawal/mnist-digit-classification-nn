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a5c9193-ccf3-5da1-9de9-363f66f02c34}">
          <p14:sldIdLst>
            <p14:sldId id="256"/>
            <p14:sldId id="257"/>
            <p14:sldId id="258"/>
          </p14:sldIdLst>
        </p14:section>
        <p14:section name="Data" id="{754f2f10-4905-35f3-ef21-d5be570f3a7c}">
          <p14:sldIdLst>
            <p14:sldId id="259"/>
            <p14:sldId id="260"/>
          </p14:sldIdLst>
        </p14:section>
        <p14:section name="Method" id="{24634ab6-1ede-d812-c373-dba893b7de4a}">
          <p14:sldIdLst>
            <p14:sldId id="261"/>
            <p14:sldId id="262"/>
            <p14:sldId id="263"/>
            <p14:sldId id="264"/>
            <p14:sldId id="265"/>
          </p14:sldIdLst>
        </p14:section>
        <p14:section name="Results" id="{e7046573-bcf6-a50f-4f3f-ee596a7e4169}">
          <p14:sldIdLst>
            <p14:sldId id="266"/>
            <p14:sldId id="267"/>
            <p14:sldId id="268"/>
          </p14:sldIdLst>
        </p14:section>
        <p14:section name="Prediction" id="{030eda7a-1ea1-7cbc-b72b-308255fc80d8}">
          <p14:sldIdLst>
            <p14:sldId id="269"/>
          </p14:sldIdLst>
        </p14:section>
        <p14:section name="Conclusion" id="{f7553cc9-cf37-b0ed-8665-25a0898eedcc}">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C2742"/>
                </a:solidFill>
                <a:latin typeface="+mn-lt"/>
              </a:defRPr>
            </a:pPr>
            <a:r>
              <a:rPr sz="1500" b="0" i="0" u="none" strike="noStrike">
                <a:solidFill>
                  <a:srgbClr val="1C2742"/>
                </a:solidFill>
                <a:latin typeface="+mn-lt"/>
              </a:rPr>
              <a:t>Training images per digit</a:t>
            </a:r>
          </a:p>
        </c:rich>
      </c:tx>
      <c:layout/>
      <c:overlay val="0"/>
    </c:title>
    <c:autoTitleDeleted val="0"/>
    <c:plotArea>
      <c:layout/>
      <c:barChart>
        <c:barDir val="col"/>
        <c:grouping val="clustered"/>
        <c:varyColors val="0"/>
        <c:ser>
          <c:idx val="0"/>
          <c:order val="0"/>
          <c:tx>
            <c:strRef>
              <c:f>Sheet1!$B$1</c:f>
              <c:strCache>
                <c:ptCount val="1"/>
                <c:pt idx="0">
                  <c:v>Training images</c:v>
                </c:pt>
              </c:strCache>
            </c:strRef>
          </c:tx>
          <c:spPr>
            <a:solidFill>
              <a:srgbClr val="2A78D6"/>
            </a:solidFill>
            <a:effectLst/>
          </c:spPr>
          <c:invertIfNegative val="0"/>
          <c:dLbls>
            <c:numFmt formatCode="#,##0" sourceLinked="0"/>
            <c:txPr>
              <a:bodyPr/>
              <a:lstStyle/>
              <a:p>
                <a:pPr>
                  <a:defRPr b="0" i="0" strike="noStrike" sz="1000" u="none">
                    <a:solidFill>
                      <a:srgbClr val="5D6472"/>
                    </a:solidFill>
                    <a:latin typeface="+mn-lt"/>
                  </a:defRPr>
                </a:pPr>
              </a:p>
            </c:txPr>
            <c:showLegendKey val="0"/>
            <c:showVal val="1"/>
            <c:showCatName val="0"/>
            <c:showSerName val="0"/>
            <c:showPercent val="0"/>
            <c:showBubbleSize val="0"/>
            <c:showLeaderLines val="0"/>
          </c:dLbls>
          <c:cat>
            <c:multiLvlStrRef>
              <c:f>Sheet1!$A$2:$A$11</c:f>
              <c:multiLvlStrCache>
                <c:ptCount val="10"/>
                <c:lvl>
                  <c:pt idx="0">
                    <c:v>0</c:v>
                  </c:pt>
                  <c:pt idx="1">
                    <c:v>1</c:v>
                  </c:pt>
                  <c:pt idx="2">
                    <c:v>2</c:v>
                  </c:pt>
                  <c:pt idx="3">
                    <c:v>3</c:v>
                  </c:pt>
                  <c:pt idx="4">
                    <c:v>4</c:v>
                  </c:pt>
                  <c:pt idx="5">
                    <c:v>5</c:v>
                  </c:pt>
                  <c:pt idx="6">
                    <c:v>6</c:v>
                  </c:pt>
                  <c:pt idx="7">
                    <c:v>7</c:v>
                  </c:pt>
                  <c:pt idx="8">
                    <c:v>8</c:v>
                  </c:pt>
                  <c:pt idx="9">
                    <c:v>9</c:v>
                  </c:pt>
                </c:lvl>
              </c:multiLvlStrCache>
            </c:multiLvlStrRef>
          </c:cat>
          <c:val>
            <c:numRef>
              <c:f>Sheet1!$B$2:$B$11</c:f>
              <c:numCache>
                <c:formatCode>General</c:formatCode>
                <c:ptCount val="10"/>
                <c:pt idx="0">
                  <c:v>5923</c:v>
                </c:pt>
                <c:pt idx="1">
                  <c:v>6742</c:v>
                </c:pt>
                <c:pt idx="2">
                  <c:v>5958</c:v>
                </c:pt>
                <c:pt idx="3">
                  <c:v>6131</c:v>
                </c:pt>
                <c:pt idx="4">
                  <c:v>5842</c:v>
                </c:pt>
                <c:pt idx="5">
                  <c:v>5421</c:v>
                </c:pt>
                <c:pt idx="6">
                  <c:v>5918</c:v>
                </c:pt>
                <c:pt idx="7">
                  <c:v>6265</c:v>
                </c:pt>
                <c:pt idx="8">
                  <c:v>5851</c:v>
                </c:pt>
                <c:pt idx="9">
                  <c:v>5949</c:v>
                </c:pt>
              </c:numCache>
            </c:numRef>
          </c:val>
        </c:ser>
        <c:dLbls>
          <c:numFmt formatCode="#,##0" sourceLinked="0"/>
          <c:txPr>
            <a:bodyPr/>
            <a:lstStyle/>
            <a:p>
              <a:pPr>
                <a:defRPr b="0" i="0" strike="noStrike" sz="1000" u="none">
                  <a:solidFill>
                    <a:srgbClr val="5D6472"/>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D6472"/>
                </a:solidFill>
                <a:latin typeface="+mn-lt"/>
              </a:defRPr>
            </a:pPr>
            <a:endParaRPr lang="en-US"/>
          </a:p>
        </c:txPr>
        <c:crossAx val="2094734552"/>
        <c:crosses val="autoZero"/>
        <c:auto val="1"/>
        <c:lblAlgn val="ctr"/>
        <c:noMultiLvlLbl val="1"/>
      </c:catAx>
      <c:valAx>
        <c:axId val="2094734552"/>
        <c:scaling>
          <c:orientation val="minMax"/>
          <c:max val="7500"/>
          <c:min val="0"/>
        </c:scaling>
        <c:delete val="0"/>
        <c:axPos val="l"/>
        <c:majorGridlines>
          <c:spPr>
            <a:ln w="6350" cap="flat">
              <a:solidFill>
                <a:srgbClr val="E3E6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4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neural network that recognises handwritten digits, trained on the MNIST dataset of 70,000 images, plus a system where a user can draw or upload their own digit.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Handwriting is everywhere: cheques, postcodes, forms, exam papers. Reading it automatically saves time and errors. The difficulty is that everyone writes differently. The problem: recognise a single handwritten digit from a 28 by 28 image with over 95% accuracy, and let users try it with their own handwriting.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come straight from the project guide. The target was over 95% accuracy. The dense neural network reached 97.93% and the improved convolutional network 99.19%.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MNIST is the classic benchmark for handwritten digits: 70,000 small grayscale images, 60,000 for training and 10,000 for testing, roughly balanced across the ten digits. Each image is a 28 by 28 grid of numbers from 0 to 255. Most pixels are black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digits are roughly balanced, with digit 1 the most common and 5 the least. Most pixels are background. The average images show clear digit shapes, but individual handwriting varies a lot, which is what makes this a learning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follows the six phases in the project guide: collect and explore the data, preprocess it, design the network, train it, evaluate it on unseen images, and build a prediction system that accepts the user's own handwriting.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Pixels are scaled from 0 to 255 down to 0 to 1. I hold out 6,000 training images as a validation set for early stopping, so the 10,000 test images are only used once. The dense network flattens each image to 784 numbers; the CNN keeps the 2D grid with one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model is a dense network as described in the project guide. Flatten turns the 28 by 28 image into 784 numbers, two hidden layers of 128 and 64 ReLU neurons learn stroke patterns, dropout reduces over-fitting, and a softmax layer of 10 neurons outputs one probability per digit. It has 109,386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dense network sees the image as a flat list and doesn't know which pixels are neighbours. A convolutional network slides small 3 by 3 filters over the image to detect local shapes wherever they appear, then max pooling shrinks the image while keeping the strongest signals. Because filters are shared across the image, the CNN needs far fewer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learn quickly: validation accuracy passes 97% within a few epochs. Early stopping watched the validation loss and stopped the dense network after 17 epochs, keeping the weights from epoch 12. The CNN used all 15 epochs and its best epoch was 14. The CNN's training and validation curves stay close together, so it over-fits very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10,000 test images the CNN reached 99.19% and the dense network 97.93%, both well above the 95% target. Precision, recall and F1 are all around 0.99 for the CNN. The confusion matrix shows the remaining mistakes are between similar-looking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some of the CNN's mistakes. A lot of them are badly written, and I could not read some of them myself. The model's confidence is also useful: most images get over 99% confidence and are almost always right, while most mistakes come with low confidence. In a real system, low-confidence digits could be sent to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both networks with three classical algorithms on the same pixels. Logistic regression draws straight boundaries and reaches about 92%. k-nearest neighbours and random forest reach about 97%. The dense network beats them, and the CNN is best with only 81 errors. My CNN is even slightly better than LeNet-5 from the classic 1998 paper by LeCun and colleagues.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let users test their own handwriting, the image is prepared the same way MNIST was: inverted to white on black, background removed, cropped, resized to fit 20 by 20 pixels and centred by its centre of mass in a 28 by 28 grid. On 30 photo-style test images this got 16 right, against only 4 with a plain resize. Very small, faint digits on noisy paper are still hard for it. Users can draw in Colab, upload a photo, use the command line, or use the browser demo shown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both networks beat the target; the CNN is the most accurate with fewer parameters; its confidence scores flag likely mistakes; and proper preprocessing lets it read real handwriting. Next steps would be data augmentation, deeper networks, multi-digit recognition and a mobile app.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Handwritten Digit Recognition using Neural Networks  ·  Naviotech AI Internship 2026</a:t>
            </a:r>
            <a:endParaRPr lang="en-US" sz="1000" dirty="0"/>
          </a:p>
        </p:txBody>
      </p:sp>
      <p:sp>
        <p:nvSpPr>
          <p:cNvPr id="3" name="Text 1"/>
          <p:cNvSpPr/>
          <p:nvPr>
            <p:ph idx="101" type="title" hasCustomPrompt="1"/>
          </p:nvPr>
        </p:nvSpPr>
        <p:spPr>
          <a:xfrm>
            <a:off x="548640" y="365760"/>
            <a:ext cx="11064240" cy="777240"/>
          </a:xfrm>
          <a:prstGeom prst="rect">
            <a:avLst/>
          </a:prstGeom>
          <a:noFill/>
          <a:ln/>
        </p:spPr>
        <p:txBody>
          <a:bodyPr wrap="square" rtlCol="0"/>
          <a:lstStyle>
            <a:lvl1pPr indent="0" marL="0">
              <a:buNone/>
              <a:defRPr lang="en-US" sz="3200" b="1" dirty="0">
                <a:solidFill>
                  <a:schemeClr val="tx2"/>
                </a:solidFill>
                <a:latin typeface="Century Schoolbook" pitchFamily="34" charset="0"/>
                <a:ea typeface="Century Schoolbook" pitchFamily="34" charset="-122"/>
                <a:cs typeface="Century Schoolbook"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ample digits" descr="/home/claude/project2/mnist-digit-classification-nn/results/figures/01_sample_images.png">    </p:cNvPr>
          <p:cNvPicPr>
            <a:picLocks noChangeAspect="1"/>
          </p:cNvPicPr>
          <p:nvPr/>
        </p:nvPicPr>
        <p:blipFill>
          <a:blip r:embed="rId1"/>
          <a:stretch>
            <a:fillRect/>
          </a:stretch>
        </p:blipFill>
        <p:spPr>
          <a:xfrm>
            <a:off x="7955280" y="1789803"/>
            <a:ext cx="3840480" cy="1358154"/>
          </a:xfrm>
          <a:prstGeom prst="rect">
            <a:avLst/>
          </a:prstGeom>
        </p:spPr>
      </p:pic>
      <p:sp>
        <p:nvSpPr>
          <p:cNvPr id="3" name="Kicker"/>
          <p:cNvSpPr txBox="1"/>
          <p:nvPr/>
        </p:nvSpPr>
        <p:spPr>
          <a:xfrm>
            <a:off x="731520" y="1188720"/>
            <a:ext cx="6949440" cy="365760"/>
          </a:xfrm>
          <a:prstGeom prst="rect">
            <a:avLst/>
          </a:prstGeom>
          <a:noFill/>
          <a:ln/>
        </p:spPr>
        <p:txBody>
          <a:bodyPr wrap="square" lIns="0" tIns="0" rIns="0" bIns="0" rtlCol="0" anchor="ctr"/>
          <a:lstStyle/>
          <a:p>
            <a:pPr indent="0" marL="0">
              <a:buNone/>
            </a:pPr>
            <a:r>
              <a:rPr lang="en-US" sz="1400" b="1" spc="200" kern="0" dirty="0">
                <a:solidFill>
                  <a:schemeClr val="accent6"/>
                </a:solidFill>
              </a:rPr>
              <a:t>AI INTERNSHIP PROJECT  ·  NAVIOTECH SOLUTION</a:t>
            </a:r>
            <a:endParaRPr lang="en-US" sz="1400" dirty="0"/>
          </a:p>
        </p:txBody>
      </p:sp>
      <p:sp>
        <p:nvSpPr>
          <p:cNvPr id="4" name="Title"/>
          <p:cNvSpPr txBox="1"/>
          <p:nvPr/>
        </p:nvSpPr>
        <p:spPr>
          <a:xfrm>
            <a:off x="731520" y="1691640"/>
            <a:ext cx="7040880" cy="1920240"/>
          </a:xfrm>
          <a:prstGeom prst="rect">
            <a:avLst/>
          </a:prstGeom>
          <a:noFill/>
          <a:ln/>
        </p:spPr>
        <p:txBody>
          <a:bodyPr wrap="square" lIns="0" tIns="0" rIns="0" bIns="0" rtlCol="0" anchor="t"/>
          <a:lstStyle/>
          <a:p>
            <a:pPr indent="0" marL="0">
              <a:buNone/>
            </a:pPr>
            <a:r>
              <a:rPr lang="en-US" sz="4000" b="1" dirty="0">
                <a:solidFill>
                  <a:schemeClr val="bg1"/>
                </a:solidFill>
                <a:latin typeface="Century Schoolbook" pitchFamily="34" charset="0"/>
                <a:ea typeface="Century Schoolbook" pitchFamily="34" charset="-122"/>
                <a:cs typeface="Century Schoolbook" pitchFamily="34" charset="-120"/>
              </a:rPr>
              <a:t>Handwritten Digit Recognition using Neural Networks</a:t>
            </a:r>
            <a:endParaRPr lang="en-US" sz="4000" dirty="0"/>
          </a:p>
        </p:txBody>
      </p:sp>
      <p:sp>
        <p:nvSpPr>
          <p:cNvPr id="5" name="Subtitle"/>
          <p:cNvSpPr txBox="1"/>
          <p:nvPr/>
        </p:nvSpPr>
        <p:spPr>
          <a:xfrm>
            <a:off x="731520" y="3703320"/>
            <a:ext cx="6949440" cy="822960"/>
          </a:xfrm>
          <a:prstGeom prst="rect">
            <a:avLst/>
          </a:prstGeom>
          <a:noFill/>
          <a:ln/>
        </p:spPr>
        <p:txBody>
          <a:bodyPr wrap="square" lIns="0" tIns="0" rIns="0" bIns="0" rtlCol="0" anchor="ctr"/>
          <a:lstStyle/>
          <a:p>
            <a:pPr indent="0" marL="0">
              <a:buNone/>
            </a:pPr>
            <a:r>
              <a:rPr lang="en-US" sz="1900" i="1" dirty="0">
                <a:solidFill>
                  <a:schemeClr val="accent6"/>
                </a:solidFill>
              </a:rPr>
              <a:t>Teaching a computer to read handwritten digits 0–9 with TensorFlow / Keras and the MNIST dataset</a:t>
            </a:r>
            <a:endParaRPr lang="en-US" sz="1900" dirty="0"/>
          </a:p>
        </p:txBody>
      </p:sp>
      <p:sp>
        <p:nvSpPr>
          <p:cNvPr id="6" name="Presenter"/>
          <p:cNvSpPr txBox="1"/>
          <p:nvPr/>
        </p:nvSpPr>
        <p:spPr>
          <a:xfrm>
            <a:off x="731520" y="4983480"/>
            <a:ext cx="6400800" cy="1097280"/>
          </a:xfrm>
          <a:prstGeom prst="rect">
            <a:avLst/>
          </a:prstGeom>
          <a:noFill/>
          <a:ln/>
        </p:spPr>
        <p:txBody>
          <a:bodyPr wrap="square" lIns="0" tIns="0" rIns="0" bIns="0" rtlCol="0" anchor="ctr"/>
          <a:lstStyle/>
          <a:p>
            <a:pPr indent="0" marL="0">
              <a:buNone/>
            </a:pPr>
            <a:r>
              <a:rPr lang="en-US" sz="1800" b="1" dirty="0">
                <a:solidFill>
                  <a:schemeClr val="bg1"/>
                </a:solidFill>
              </a:rPr>
              <a:t>Sangini Agrawal</a:t>
            </a:r>
            <a:endParaRPr lang="en-US" sz="1800" dirty="0"/>
          </a:p>
          <a:p>
            <a:pPr indent="0" marL="0">
              <a:buNone/>
            </a:pPr>
            <a:r>
              <a:rPr lang="en-US" sz="1500" dirty="0">
                <a:solidFill>
                  <a:schemeClr val="accent6"/>
                </a:solidFill>
              </a:rPr>
              <a:t>AI Intern · September 2026 batch</a:t>
            </a:r>
            <a:endParaRPr lang="en-US" sz="1800" dirty="0"/>
          </a:p>
          <a:p>
            <a:pPr indent="0" marL="0">
              <a:buNone/>
            </a:pPr>
            <a:r>
              <a:rPr lang="en-US" sz="1500" dirty="0">
                <a:solidFill>
                  <a:schemeClr val="accent6"/>
                </a:solidFill>
              </a:rPr>
              <a:t>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Problem statement</a:t>
            </a:r>
            <a:endParaRPr lang="en-US" sz="3200" dirty="0"/>
          </a:p>
        </p:txBody>
      </p:sp>
      <p:sp>
        <p:nvSpPr>
          <p:cNvPr id="3" name="Pen circle"/>
          <p:cNvSpPr/>
          <p:nvPr/>
        </p:nvSpPr>
        <p:spPr>
          <a:xfrm>
            <a:off x="548640" y="1371600"/>
            <a:ext cx="685800" cy="685800"/>
          </a:xfrm>
          <a:prstGeom prst="ellipse">
            <a:avLst/>
          </a:prstGeom>
          <a:solidFill>
            <a:schemeClr val="accent1"/>
          </a:solidFill>
          <a:ln/>
        </p:spPr>
      </p:sp>
      <p:pic>
        <p:nvPicPr>
          <p:cNvPr id="4" name="Pen icon" descr="preencoded.png">    </p:cNvPr>
          <p:cNvPicPr>
            <a:picLocks noChangeAspect="1"/>
          </p:cNvPicPr>
          <p:nvPr/>
        </p:nvPicPr>
        <p:blipFill>
          <a:blip r:embed="rId1"/>
          <a:stretch>
            <a:fillRect/>
          </a:stretch>
        </p:blipFill>
        <p:spPr>
          <a:xfrm>
            <a:off x="713232" y="1536192"/>
            <a:ext cx="356616" cy="356616"/>
          </a:xfrm>
          <a:prstGeom prst="rect">
            <a:avLst/>
          </a:prstGeom>
        </p:spPr>
      </p:pic>
      <p:sp>
        <p:nvSpPr>
          <p:cNvPr id="5" name="Why head"/>
          <p:cNvSpPr txBox="1"/>
          <p:nvPr/>
        </p:nvSpPr>
        <p:spPr>
          <a:xfrm>
            <a:off x="1417320" y="1371600"/>
            <a:ext cx="4572000" cy="685800"/>
          </a:xfrm>
          <a:prstGeom prst="rect">
            <a:avLst/>
          </a:prstGeom>
          <a:noFill/>
          <a:ln/>
        </p:spPr>
        <p:txBody>
          <a:bodyPr wrap="square" lIns="0" tIns="0" rIns="0" bIns="0" rtlCol="0" anchor="ctr"/>
          <a:lstStyle/>
          <a:p>
            <a:pPr indent="0" marL="0">
              <a:buNone/>
            </a:pPr>
            <a:r>
              <a:rPr lang="en-US" sz="2200" b="1" dirty="0">
                <a:solidFill>
                  <a:schemeClr val="tx2"/>
                </a:solidFill>
              </a:rPr>
              <a:t>Why it matters</a:t>
            </a:r>
            <a:endParaRPr lang="en-US" sz="2200" dirty="0"/>
          </a:p>
        </p:txBody>
      </p:sp>
      <p:sp>
        <p:nvSpPr>
          <p:cNvPr id="6" name="Why text"/>
          <p:cNvSpPr txBox="1"/>
          <p:nvPr/>
        </p:nvSpPr>
        <p:spPr>
          <a:xfrm>
            <a:off x="548640" y="2194560"/>
            <a:ext cx="5486400" cy="1097280"/>
          </a:xfrm>
          <a:prstGeom prst="rect">
            <a:avLst/>
          </a:prstGeom>
          <a:noFill/>
          <a:ln/>
        </p:spPr>
        <p:txBody>
          <a:bodyPr wrap="square" lIns="0" tIns="0" rIns="0" bIns="0" rtlCol="0" anchor="t"/>
          <a:lstStyle/>
          <a:p>
            <a:pPr indent="0" marL="0">
              <a:buNone/>
            </a:pPr>
            <a:r>
              <a:rPr lang="en-US" sz="1600" dirty="0">
                <a:solidFill>
                  <a:schemeClr val="tx1"/>
                </a:solidFill>
              </a:rPr>
              <a:t>Huge amounts of information are still handwritten: cheques, postal codes, exam sheets and paper forms. Reading them by hand is slow, costly and error-prone.</a:t>
            </a:r>
            <a:endParaRPr lang="en-US" sz="1600" dirty="0"/>
          </a:p>
        </p:txBody>
      </p:sp>
      <p:sp>
        <p:nvSpPr>
          <p:cNvPr id="7" name="App 1 circle"/>
          <p:cNvSpPr/>
          <p:nvPr/>
        </p:nvSpPr>
        <p:spPr>
          <a:xfrm>
            <a:off x="548640" y="3429000"/>
            <a:ext cx="548640" cy="548640"/>
          </a:xfrm>
          <a:prstGeom prst="ellipse">
            <a:avLst/>
          </a:prstGeom>
          <a:solidFill>
            <a:schemeClr val="accent2"/>
          </a:solidFill>
          <a:ln/>
        </p:spPr>
      </p:sp>
      <p:pic>
        <p:nvPicPr>
          <p:cNvPr id="8" name="App 1 icon" descr="preencoded.png">    </p:cNvPr>
          <p:cNvPicPr>
            <a:picLocks noChangeAspect="1"/>
          </p:cNvPicPr>
          <p:nvPr/>
        </p:nvPicPr>
        <p:blipFill>
          <a:blip r:embed="rId2"/>
          <a:stretch>
            <a:fillRect/>
          </a:stretch>
        </p:blipFill>
        <p:spPr>
          <a:xfrm>
            <a:off x="680314" y="3560674"/>
            <a:ext cx="285293" cy="285293"/>
          </a:xfrm>
          <a:prstGeom prst="rect">
            <a:avLst/>
          </a:prstGeom>
        </p:spPr>
      </p:pic>
      <p:sp>
        <p:nvSpPr>
          <p:cNvPr id="9" name="App 1 text"/>
          <p:cNvSpPr txBox="1"/>
          <p:nvPr/>
        </p:nvSpPr>
        <p:spPr>
          <a:xfrm>
            <a:off x="1207008" y="3429000"/>
            <a:ext cx="2057400" cy="548640"/>
          </a:xfrm>
          <a:prstGeom prst="rect">
            <a:avLst/>
          </a:prstGeom>
          <a:noFill/>
          <a:ln/>
        </p:spPr>
        <p:txBody>
          <a:bodyPr wrap="square" lIns="0" tIns="0" rIns="0" bIns="0" rtlCol="0" anchor="ctr"/>
          <a:lstStyle/>
          <a:p>
            <a:pPr indent="0" marL="0">
              <a:buNone/>
            </a:pPr>
            <a:r>
              <a:rPr lang="en-US" sz="1500" dirty="0">
                <a:solidFill>
                  <a:schemeClr val="tx1"/>
                </a:solidFill>
              </a:rPr>
              <a:t>Bank cheque processing</a:t>
            </a:r>
            <a:endParaRPr lang="en-US" sz="1500" dirty="0"/>
          </a:p>
        </p:txBody>
      </p:sp>
      <p:sp>
        <p:nvSpPr>
          <p:cNvPr id="10" name="App 2 circle"/>
          <p:cNvSpPr/>
          <p:nvPr/>
        </p:nvSpPr>
        <p:spPr>
          <a:xfrm>
            <a:off x="3337560" y="3429000"/>
            <a:ext cx="548640" cy="548640"/>
          </a:xfrm>
          <a:prstGeom prst="ellipse">
            <a:avLst/>
          </a:prstGeom>
          <a:solidFill>
            <a:schemeClr val="accent2"/>
          </a:solidFill>
          <a:ln/>
        </p:spPr>
      </p:sp>
      <p:pic>
        <p:nvPicPr>
          <p:cNvPr id="11" name="App 2 icon" descr="preencoded.png">    </p:cNvPr>
          <p:cNvPicPr>
            <a:picLocks noChangeAspect="1"/>
          </p:cNvPicPr>
          <p:nvPr/>
        </p:nvPicPr>
        <p:blipFill>
          <a:blip r:embed="rId3"/>
          <a:stretch>
            <a:fillRect/>
          </a:stretch>
        </p:blipFill>
        <p:spPr>
          <a:xfrm>
            <a:off x="3469234" y="3560674"/>
            <a:ext cx="285293" cy="285293"/>
          </a:xfrm>
          <a:prstGeom prst="rect">
            <a:avLst/>
          </a:prstGeom>
        </p:spPr>
      </p:pic>
      <p:sp>
        <p:nvSpPr>
          <p:cNvPr id="12" name="App 2 text"/>
          <p:cNvSpPr txBox="1"/>
          <p:nvPr/>
        </p:nvSpPr>
        <p:spPr>
          <a:xfrm>
            <a:off x="3995928" y="3429000"/>
            <a:ext cx="2057400" cy="548640"/>
          </a:xfrm>
          <a:prstGeom prst="rect">
            <a:avLst/>
          </a:prstGeom>
          <a:noFill/>
          <a:ln/>
        </p:spPr>
        <p:txBody>
          <a:bodyPr wrap="square" lIns="0" tIns="0" rIns="0" bIns="0" rtlCol="0" anchor="ctr"/>
          <a:lstStyle/>
          <a:p>
            <a:pPr indent="0" marL="0">
              <a:buNone/>
            </a:pPr>
            <a:r>
              <a:rPr lang="en-US" sz="1500" dirty="0">
                <a:solidFill>
                  <a:schemeClr val="tx1"/>
                </a:solidFill>
              </a:rPr>
              <a:t>Postal code recognition</a:t>
            </a:r>
            <a:endParaRPr lang="en-US" sz="1500" dirty="0"/>
          </a:p>
        </p:txBody>
      </p:sp>
      <p:sp>
        <p:nvSpPr>
          <p:cNvPr id="13" name="App 3 circle"/>
          <p:cNvSpPr/>
          <p:nvPr/>
        </p:nvSpPr>
        <p:spPr>
          <a:xfrm>
            <a:off x="548640" y="4297680"/>
            <a:ext cx="548640" cy="548640"/>
          </a:xfrm>
          <a:prstGeom prst="ellipse">
            <a:avLst/>
          </a:prstGeom>
          <a:solidFill>
            <a:schemeClr val="accent2"/>
          </a:solidFill>
          <a:ln/>
        </p:spPr>
      </p:sp>
      <p:pic>
        <p:nvPicPr>
          <p:cNvPr id="14" name="App 3 icon" descr="preencoded.png">    </p:cNvPr>
          <p:cNvPicPr>
            <a:picLocks noChangeAspect="1"/>
          </p:cNvPicPr>
          <p:nvPr/>
        </p:nvPicPr>
        <p:blipFill>
          <a:blip r:embed="rId4"/>
          <a:stretch>
            <a:fillRect/>
          </a:stretch>
        </p:blipFill>
        <p:spPr>
          <a:xfrm>
            <a:off x="680314" y="4429354"/>
            <a:ext cx="285293" cy="285293"/>
          </a:xfrm>
          <a:prstGeom prst="rect">
            <a:avLst/>
          </a:prstGeom>
        </p:spPr>
      </p:pic>
      <p:sp>
        <p:nvSpPr>
          <p:cNvPr id="15" name="App 3 text"/>
          <p:cNvSpPr txBox="1"/>
          <p:nvPr/>
        </p:nvSpPr>
        <p:spPr>
          <a:xfrm>
            <a:off x="1207008" y="4297680"/>
            <a:ext cx="2057400" cy="548640"/>
          </a:xfrm>
          <a:prstGeom prst="rect">
            <a:avLst/>
          </a:prstGeom>
          <a:noFill/>
          <a:ln/>
        </p:spPr>
        <p:txBody>
          <a:bodyPr wrap="square" lIns="0" tIns="0" rIns="0" bIns="0" rtlCol="0" anchor="ctr"/>
          <a:lstStyle/>
          <a:p>
            <a:pPr indent="0" marL="0">
              <a:buNone/>
            </a:pPr>
            <a:r>
              <a:rPr lang="en-US" sz="1500" dirty="0">
                <a:solidFill>
                  <a:schemeClr val="tx1"/>
                </a:solidFill>
              </a:rPr>
              <a:t>OCR and form processing</a:t>
            </a:r>
            <a:endParaRPr lang="en-US" sz="1500" dirty="0"/>
          </a:p>
        </p:txBody>
      </p:sp>
      <p:sp>
        <p:nvSpPr>
          <p:cNvPr id="16" name="App 4 circle"/>
          <p:cNvSpPr/>
          <p:nvPr/>
        </p:nvSpPr>
        <p:spPr>
          <a:xfrm>
            <a:off x="3337560" y="4297680"/>
            <a:ext cx="548640" cy="548640"/>
          </a:xfrm>
          <a:prstGeom prst="ellipse">
            <a:avLst/>
          </a:prstGeom>
          <a:solidFill>
            <a:schemeClr val="accent2"/>
          </a:solidFill>
          <a:ln/>
        </p:spPr>
      </p:sp>
      <p:pic>
        <p:nvPicPr>
          <p:cNvPr id="17" name="App 4 icon" descr="preencoded.png">    </p:cNvPr>
          <p:cNvPicPr>
            <a:picLocks noChangeAspect="1"/>
          </p:cNvPicPr>
          <p:nvPr/>
        </p:nvPicPr>
        <p:blipFill>
          <a:blip r:embed="rId5"/>
          <a:stretch>
            <a:fillRect/>
          </a:stretch>
        </p:blipFill>
        <p:spPr>
          <a:xfrm>
            <a:off x="3469234" y="4429354"/>
            <a:ext cx="285293" cy="285293"/>
          </a:xfrm>
          <a:prstGeom prst="rect">
            <a:avLst/>
          </a:prstGeom>
        </p:spPr>
      </p:pic>
      <p:sp>
        <p:nvSpPr>
          <p:cNvPr id="18" name="App 4 text"/>
          <p:cNvSpPr txBox="1"/>
          <p:nvPr/>
        </p:nvSpPr>
        <p:spPr>
          <a:xfrm>
            <a:off x="3995928" y="4297680"/>
            <a:ext cx="2057400" cy="548640"/>
          </a:xfrm>
          <a:prstGeom prst="rect">
            <a:avLst/>
          </a:prstGeom>
          <a:noFill/>
          <a:ln/>
        </p:spPr>
        <p:txBody>
          <a:bodyPr wrap="square" lIns="0" tIns="0" rIns="0" bIns="0" rtlCol="0" anchor="ctr"/>
          <a:lstStyle/>
          <a:p>
            <a:pPr indent="0" marL="0">
              <a:buNone/>
            </a:pPr>
            <a:r>
              <a:rPr lang="en-US" sz="1500" dirty="0">
                <a:solidFill>
                  <a:schemeClr val="tx1"/>
                </a:solidFill>
              </a:rPr>
              <a:t>Educational tools</a:t>
            </a:r>
            <a:endParaRPr lang="en-US" sz="1500" dirty="0"/>
          </a:p>
        </p:txBody>
      </p:sp>
      <p:sp>
        <p:nvSpPr>
          <p:cNvPr id="19" name="Challenge card"/>
          <p:cNvSpPr/>
          <p:nvPr/>
        </p:nvSpPr>
        <p:spPr>
          <a:xfrm>
            <a:off x="6400800" y="1371600"/>
            <a:ext cx="5212080" cy="1874520"/>
          </a:xfrm>
          <a:prstGeom prst="roundRect">
            <a:avLst>
              <a:gd name="adj" fmla="val 5854"/>
            </a:avLst>
          </a:prstGeom>
          <a:solidFill>
            <a:schemeClr val="bg2"/>
          </a:solidFill>
          <a:ln/>
        </p:spPr>
      </p:sp>
      <p:sp>
        <p:nvSpPr>
          <p:cNvPr id="20" name="Challenge text"/>
          <p:cNvSpPr txBox="1"/>
          <p:nvPr/>
        </p:nvSpPr>
        <p:spPr>
          <a:xfrm>
            <a:off x="6629400" y="1508760"/>
            <a:ext cx="4800600" cy="164592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The challenge</a:t>
            </a:r>
            <a:endParaRPr lang="en-US" sz="1700" dirty="0"/>
          </a:p>
          <a:p>
            <a:pPr indent="0" marL="0">
              <a:spcAft>
                <a:spcPts val="600"/>
              </a:spcAft>
              <a:buNone/>
            </a:pPr>
            <a:r>
              <a:rPr lang="en-US" sz="1500" dirty="0">
                <a:solidFill>
                  <a:schemeClr val="tx1"/>
                </a:solidFill>
              </a:rPr>
              <a:t>Everyone writes differently: slant, thickness, size, loops and open or closed shapes all vary. A '4' can look like a '9', a '7' like a '2'.</a:t>
            </a:r>
            <a:endParaRPr lang="en-US" sz="1700" dirty="0"/>
          </a:p>
        </p:txBody>
      </p:sp>
      <p:sp>
        <p:nvSpPr>
          <p:cNvPr id="21" name="Problem card"/>
          <p:cNvSpPr/>
          <p:nvPr/>
        </p:nvSpPr>
        <p:spPr>
          <a:xfrm>
            <a:off x="6400800" y="3474720"/>
            <a:ext cx="5212080" cy="2377440"/>
          </a:xfrm>
          <a:prstGeom prst="roundRect">
            <a:avLst>
              <a:gd name="adj" fmla="val 4615"/>
            </a:avLst>
          </a:prstGeom>
          <a:solidFill>
            <a:schemeClr val="accent6"/>
          </a:solidFill>
          <a:ln/>
        </p:spPr>
      </p:sp>
      <p:sp>
        <p:nvSpPr>
          <p:cNvPr id="22" name="Problem text"/>
          <p:cNvSpPr txBox="1"/>
          <p:nvPr/>
        </p:nvSpPr>
        <p:spPr>
          <a:xfrm>
            <a:off x="6629400" y="3639312"/>
            <a:ext cx="4800600" cy="210312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Problem to solve</a:t>
            </a:r>
            <a:endParaRPr lang="en-US" sz="1700" dirty="0"/>
          </a:p>
          <a:p>
            <a:pPr indent="0" marL="0">
              <a:spcAft>
                <a:spcPts val="600"/>
              </a:spcAft>
              <a:buNone/>
            </a:pPr>
            <a:r>
              <a:rPr lang="en-US" sz="1600" dirty="0">
                <a:solidFill>
                  <a:schemeClr val="tx1"/>
                </a:solidFill>
              </a:rPr>
              <a:t>Given a 28 × 28 grayscale image of a single handwritten digit, automatically identify which digit (0–9) it is with more than 95% accuracy, and let users test the system with their own handwriting.</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Project objectives</a:t>
            </a:r>
            <a:endParaRPr lang="en-US" sz="3200" dirty="0"/>
          </a:p>
        </p:txBody>
      </p:sp>
      <p:sp>
        <p:nvSpPr>
          <p:cNvPr id="3" name="Objective 1 circle"/>
          <p:cNvSpPr/>
          <p:nvPr/>
        </p:nvSpPr>
        <p:spPr>
          <a:xfrm>
            <a:off x="548640" y="1371600"/>
            <a:ext cx="685800" cy="685800"/>
          </a:xfrm>
          <a:prstGeom prst="ellipse">
            <a:avLst/>
          </a:prstGeom>
          <a:solidFill>
            <a:schemeClr val="accent1"/>
          </a:solidFill>
          <a:ln/>
        </p:spPr>
      </p:sp>
      <p:pic>
        <p:nvPicPr>
          <p:cNvPr id="4" name="Objective 1 icon" descr="preencoded.png">    </p:cNvPr>
          <p:cNvPicPr>
            <a:picLocks noChangeAspect="1"/>
          </p:cNvPicPr>
          <p:nvPr/>
        </p:nvPicPr>
        <p:blipFill>
          <a:blip r:embed="rId1"/>
          <a:stretch>
            <a:fillRect/>
          </a:stretch>
        </p:blipFill>
        <p:spPr>
          <a:xfrm>
            <a:off x="713232" y="1536192"/>
            <a:ext cx="356616" cy="356616"/>
          </a:xfrm>
          <a:prstGeom prst="rect">
            <a:avLst/>
          </a:prstGeom>
        </p:spPr>
      </p:pic>
      <p:sp>
        <p:nvSpPr>
          <p:cNvPr id="5" name="Objective 1 head"/>
          <p:cNvSpPr txBox="1"/>
          <p:nvPr/>
        </p:nvSpPr>
        <p:spPr>
          <a:xfrm>
            <a:off x="1463040" y="1353312"/>
            <a:ext cx="6217920" cy="384048"/>
          </a:xfrm>
          <a:prstGeom prst="rect">
            <a:avLst/>
          </a:prstGeom>
          <a:noFill/>
          <a:ln/>
        </p:spPr>
        <p:txBody>
          <a:bodyPr wrap="square" lIns="0" tIns="0" rIns="0" bIns="0" rtlCol="0" anchor="ctr"/>
          <a:lstStyle/>
          <a:p>
            <a:pPr indent="0" marL="0">
              <a:buNone/>
            </a:pPr>
            <a:r>
              <a:rPr lang="en-US" sz="1800" b="1" dirty="0">
                <a:solidFill>
                  <a:schemeClr val="tx2"/>
                </a:solidFill>
              </a:rPr>
              <a:t>Understand neural network fundamentals</a:t>
            </a:r>
            <a:endParaRPr lang="en-US" sz="1800" dirty="0"/>
          </a:p>
        </p:txBody>
      </p:sp>
      <p:sp>
        <p:nvSpPr>
          <p:cNvPr id="6" name="Objective 1 text"/>
          <p:cNvSpPr txBox="1"/>
          <p:nvPr/>
        </p:nvSpPr>
        <p:spPr>
          <a:xfrm>
            <a:off x="1463040" y="1737360"/>
            <a:ext cx="6217920" cy="347472"/>
          </a:xfrm>
          <a:prstGeom prst="rect">
            <a:avLst/>
          </a:prstGeom>
          <a:noFill/>
          <a:ln/>
        </p:spPr>
        <p:txBody>
          <a:bodyPr wrap="square" lIns="0" tIns="0" rIns="0" bIns="0" rtlCol="0" anchor="ctr"/>
          <a:lstStyle/>
          <a:p>
            <a:pPr indent="0" marL="0">
              <a:buNone/>
            </a:pPr>
            <a:r>
              <a:rPr lang="en-US" sz="1500" dirty="0">
                <a:solidFill>
                  <a:schemeClr val="accent5"/>
                </a:solidFill>
              </a:rPr>
              <a:t>Neurons, layers, activations, loss, optimisers</a:t>
            </a:r>
            <a:endParaRPr lang="en-US" sz="1500" dirty="0"/>
          </a:p>
        </p:txBody>
      </p:sp>
      <p:sp>
        <p:nvSpPr>
          <p:cNvPr id="7" name="Objective 2 circle"/>
          <p:cNvSpPr/>
          <p:nvPr/>
        </p:nvSpPr>
        <p:spPr>
          <a:xfrm>
            <a:off x="548640" y="2331720"/>
            <a:ext cx="685800" cy="685800"/>
          </a:xfrm>
          <a:prstGeom prst="ellipse">
            <a:avLst/>
          </a:prstGeom>
          <a:solidFill>
            <a:schemeClr val="accent1"/>
          </a:solidFill>
          <a:ln/>
        </p:spPr>
      </p:sp>
      <p:pic>
        <p:nvPicPr>
          <p:cNvPr id="8" name="Objective 2 icon" descr="preencoded.png">    </p:cNvPr>
          <p:cNvPicPr>
            <a:picLocks noChangeAspect="1"/>
          </p:cNvPicPr>
          <p:nvPr/>
        </p:nvPicPr>
        <p:blipFill>
          <a:blip r:embed="rId2"/>
          <a:stretch>
            <a:fillRect/>
          </a:stretch>
        </p:blipFill>
        <p:spPr>
          <a:xfrm>
            <a:off x="713232" y="2496312"/>
            <a:ext cx="356616" cy="356616"/>
          </a:xfrm>
          <a:prstGeom prst="rect">
            <a:avLst/>
          </a:prstGeom>
        </p:spPr>
      </p:pic>
      <p:sp>
        <p:nvSpPr>
          <p:cNvPr id="9" name="Objective 2 head"/>
          <p:cNvSpPr txBox="1"/>
          <p:nvPr/>
        </p:nvSpPr>
        <p:spPr>
          <a:xfrm>
            <a:off x="1463040" y="2313432"/>
            <a:ext cx="6217920" cy="384048"/>
          </a:xfrm>
          <a:prstGeom prst="rect">
            <a:avLst/>
          </a:prstGeom>
          <a:noFill/>
          <a:ln/>
        </p:spPr>
        <p:txBody>
          <a:bodyPr wrap="square" lIns="0" tIns="0" rIns="0" bIns="0" rtlCol="0" anchor="ctr"/>
          <a:lstStyle/>
          <a:p>
            <a:pPr indent="0" marL="0">
              <a:buNone/>
            </a:pPr>
            <a:r>
              <a:rPr lang="en-US" sz="1800" b="1" dirty="0">
                <a:solidFill>
                  <a:schemeClr val="tx2"/>
                </a:solidFill>
              </a:rPr>
              <a:t>Learn image classification techniques</a:t>
            </a:r>
            <a:endParaRPr lang="en-US" sz="1800" dirty="0"/>
          </a:p>
        </p:txBody>
      </p:sp>
      <p:sp>
        <p:nvSpPr>
          <p:cNvPr id="10" name="Objective 2 text"/>
          <p:cNvSpPr txBox="1"/>
          <p:nvPr/>
        </p:nvSpPr>
        <p:spPr>
          <a:xfrm>
            <a:off x="1463040" y="2697480"/>
            <a:ext cx="6217920" cy="347472"/>
          </a:xfrm>
          <a:prstGeom prst="rect">
            <a:avLst/>
          </a:prstGeom>
          <a:noFill/>
          <a:ln/>
        </p:spPr>
        <p:txBody>
          <a:bodyPr wrap="square" lIns="0" tIns="0" rIns="0" bIns="0" rtlCol="0" anchor="ctr"/>
          <a:lstStyle/>
          <a:p>
            <a:pPr indent="0" marL="0">
              <a:buNone/>
            </a:pPr>
            <a:r>
              <a:rPr lang="en-US" sz="1500" dirty="0">
                <a:solidFill>
                  <a:schemeClr val="accent5"/>
                </a:solidFill>
              </a:rPr>
              <a:t>Images as pixel grids; dense networks and CNNs</a:t>
            </a:r>
            <a:endParaRPr lang="en-US" sz="1500" dirty="0"/>
          </a:p>
        </p:txBody>
      </p:sp>
      <p:sp>
        <p:nvSpPr>
          <p:cNvPr id="11" name="Objective 3 circle"/>
          <p:cNvSpPr/>
          <p:nvPr/>
        </p:nvSpPr>
        <p:spPr>
          <a:xfrm>
            <a:off x="548640" y="3291840"/>
            <a:ext cx="685800" cy="685800"/>
          </a:xfrm>
          <a:prstGeom prst="ellipse">
            <a:avLst/>
          </a:prstGeom>
          <a:solidFill>
            <a:schemeClr val="accent1"/>
          </a:solidFill>
          <a:ln/>
        </p:spPr>
      </p:sp>
      <p:pic>
        <p:nvPicPr>
          <p:cNvPr id="12" name="Objective 3 icon" descr="preencoded.png">    </p:cNvPr>
          <p:cNvPicPr>
            <a:picLocks noChangeAspect="1"/>
          </p:cNvPicPr>
          <p:nvPr/>
        </p:nvPicPr>
        <p:blipFill>
          <a:blip r:embed="rId3"/>
          <a:stretch>
            <a:fillRect/>
          </a:stretch>
        </p:blipFill>
        <p:spPr>
          <a:xfrm>
            <a:off x="713232" y="3456432"/>
            <a:ext cx="356616" cy="356616"/>
          </a:xfrm>
          <a:prstGeom prst="rect">
            <a:avLst/>
          </a:prstGeom>
        </p:spPr>
      </p:pic>
      <p:sp>
        <p:nvSpPr>
          <p:cNvPr id="13" name="Objective 3 head"/>
          <p:cNvSpPr txBox="1"/>
          <p:nvPr/>
        </p:nvSpPr>
        <p:spPr>
          <a:xfrm>
            <a:off x="1463040" y="3273552"/>
            <a:ext cx="6217920" cy="384048"/>
          </a:xfrm>
          <a:prstGeom prst="rect">
            <a:avLst/>
          </a:prstGeom>
          <a:noFill/>
          <a:ln/>
        </p:spPr>
        <p:txBody>
          <a:bodyPr wrap="square" lIns="0" tIns="0" rIns="0" bIns="0" rtlCol="0" anchor="ctr"/>
          <a:lstStyle/>
          <a:p>
            <a:pPr indent="0" marL="0">
              <a:buNone/>
            </a:pPr>
            <a:r>
              <a:rPr lang="en-US" sz="1800" b="1" dirty="0">
                <a:solidFill>
                  <a:schemeClr val="tx2"/>
                </a:solidFill>
              </a:rPr>
              <a:t>Train a model on the MNIST dataset</a:t>
            </a:r>
            <a:endParaRPr lang="en-US" sz="1800" dirty="0"/>
          </a:p>
        </p:txBody>
      </p:sp>
      <p:sp>
        <p:nvSpPr>
          <p:cNvPr id="14" name="Objective 3 text"/>
          <p:cNvSpPr txBox="1"/>
          <p:nvPr/>
        </p:nvSpPr>
        <p:spPr>
          <a:xfrm>
            <a:off x="1463040" y="3657600"/>
            <a:ext cx="6217920" cy="347472"/>
          </a:xfrm>
          <a:prstGeom prst="rect">
            <a:avLst/>
          </a:prstGeom>
          <a:noFill/>
          <a:ln/>
        </p:spPr>
        <p:txBody>
          <a:bodyPr wrap="square" lIns="0" tIns="0" rIns="0" bIns="0" rtlCol="0" anchor="ctr"/>
          <a:lstStyle/>
          <a:p>
            <a:pPr indent="0" marL="0">
              <a:buNone/>
            </a:pPr>
            <a:r>
              <a:rPr lang="en-US" sz="1500" dirty="0">
                <a:solidFill>
                  <a:schemeClr val="accent5"/>
                </a:solidFill>
              </a:rPr>
              <a:t>60,000 training and 10,000 test images</a:t>
            </a:r>
            <a:endParaRPr lang="en-US" sz="1500" dirty="0"/>
          </a:p>
        </p:txBody>
      </p:sp>
      <p:sp>
        <p:nvSpPr>
          <p:cNvPr id="15" name="Objective 4 circle"/>
          <p:cNvSpPr/>
          <p:nvPr/>
        </p:nvSpPr>
        <p:spPr>
          <a:xfrm>
            <a:off x="548640" y="4251960"/>
            <a:ext cx="685800" cy="685800"/>
          </a:xfrm>
          <a:prstGeom prst="ellipse">
            <a:avLst/>
          </a:prstGeom>
          <a:solidFill>
            <a:schemeClr val="accent1"/>
          </a:solidFill>
          <a:ln/>
        </p:spPr>
      </p:sp>
      <p:pic>
        <p:nvPicPr>
          <p:cNvPr id="16" name="Objective 4 icon" descr="preencoded.png">    </p:cNvPr>
          <p:cNvPicPr>
            <a:picLocks noChangeAspect="1"/>
          </p:cNvPicPr>
          <p:nvPr/>
        </p:nvPicPr>
        <p:blipFill>
          <a:blip r:embed="rId4"/>
          <a:stretch>
            <a:fillRect/>
          </a:stretch>
        </p:blipFill>
        <p:spPr>
          <a:xfrm>
            <a:off x="713232" y="4416552"/>
            <a:ext cx="356616" cy="356616"/>
          </a:xfrm>
          <a:prstGeom prst="rect">
            <a:avLst/>
          </a:prstGeom>
        </p:spPr>
      </p:pic>
      <p:sp>
        <p:nvSpPr>
          <p:cNvPr id="17" name="Objective 4 head"/>
          <p:cNvSpPr txBox="1"/>
          <p:nvPr/>
        </p:nvSpPr>
        <p:spPr>
          <a:xfrm>
            <a:off x="1463040" y="4233672"/>
            <a:ext cx="6217920" cy="384048"/>
          </a:xfrm>
          <a:prstGeom prst="rect">
            <a:avLst/>
          </a:prstGeom>
          <a:noFill/>
          <a:ln/>
        </p:spPr>
        <p:txBody>
          <a:bodyPr wrap="square" lIns="0" tIns="0" rIns="0" bIns="0" rtlCol="0" anchor="ctr"/>
          <a:lstStyle/>
          <a:p>
            <a:pPr indent="0" marL="0">
              <a:buNone/>
            </a:pPr>
            <a:r>
              <a:rPr lang="en-US" sz="1800" b="1" dirty="0">
                <a:solidFill>
                  <a:schemeClr val="tx2"/>
                </a:solidFill>
              </a:rPr>
              <a:t>Evaluate accuracy and performance</a:t>
            </a:r>
            <a:endParaRPr lang="en-US" sz="1800" dirty="0"/>
          </a:p>
        </p:txBody>
      </p:sp>
      <p:sp>
        <p:nvSpPr>
          <p:cNvPr id="18" name="Objective 4 text"/>
          <p:cNvSpPr txBox="1"/>
          <p:nvPr/>
        </p:nvSpPr>
        <p:spPr>
          <a:xfrm>
            <a:off x="1463040" y="4617720"/>
            <a:ext cx="6217920" cy="347472"/>
          </a:xfrm>
          <a:prstGeom prst="rect">
            <a:avLst/>
          </a:prstGeom>
          <a:noFill/>
          <a:ln/>
        </p:spPr>
        <p:txBody>
          <a:bodyPr wrap="square" lIns="0" tIns="0" rIns="0" bIns="0" rtlCol="0" anchor="ctr"/>
          <a:lstStyle/>
          <a:p>
            <a:pPr indent="0" marL="0">
              <a:buNone/>
            </a:pPr>
            <a:r>
              <a:rPr lang="en-US" sz="1500" dirty="0">
                <a:solidFill>
                  <a:schemeClr val="accent5"/>
                </a:solidFill>
              </a:rPr>
              <a:t>Accuracy, precision, recall, F1, confusion matrix</a:t>
            </a:r>
            <a:endParaRPr lang="en-US" sz="1500" dirty="0"/>
          </a:p>
        </p:txBody>
      </p:sp>
      <p:sp>
        <p:nvSpPr>
          <p:cNvPr id="19" name="Objective 5 circle"/>
          <p:cNvSpPr/>
          <p:nvPr/>
        </p:nvSpPr>
        <p:spPr>
          <a:xfrm>
            <a:off x="548640" y="5212080"/>
            <a:ext cx="685800" cy="685800"/>
          </a:xfrm>
          <a:prstGeom prst="ellipse">
            <a:avLst/>
          </a:prstGeom>
          <a:solidFill>
            <a:schemeClr val="accent1"/>
          </a:solidFill>
          <a:ln/>
        </p:spPr>
      </p:sp>
      <p:pic>
        <p:nvPicPr>
          <p:cNvPr id="20" name="Objective 5 icon" descr="preencoded.png">    </p:cNvPr>
          <p:cNvPicPr>
            <a:picLocks noChangeAspect="1"/>
          </p:cNvPicPr>
          <p:nvPr/>
        </p:nvPicPr>
        <p:blipFill>
          <a:blip r:embed="rId5"/>
          <a:stretch>
            <a:fillRect/>
          </a:stretch>
        </p:blipFill>
        <p:spPr>
          <a:xfrm>
            <a:off x="713232" y="5376672"/>
            <a:ext cx="356616" cy="356616"/>
          </a:xfrm>
          <a:prstGeom prst="rect">
            <a:avLst/>
          </a:prstGeom>
        </p:spPr>
      </p:pic>
      <p:sp>
        <p:nvSpPr>
          <p:cNvPr id="21" name="Objective 5 head"/>
          <p:cNvSpPr txBox="1"/>
          <p:nvPr/>
        </p:nvSpPr>
        <p:spPr>
          <a:xfrm>
            <a:off x="1463040" y="5193792"/>
            <a:ext cx="6217920" cy="384048"/>
          </a:xfrm>
          <a:prstGeom prst="rect">
            <a:avLst/>
          </a:prstGeom>
          <a:noFill/>
          <a:ln/>
        </p:spPr>
        <p:txBody>
          <a:bodyPr wrap="square" lIns="0" tIns="0" rIns="0" bIns="0" rtlCol="0" anchor="ctr"/>
          <a:lstStyle/>
          <a:p>
            <a:pPr indent="0" marL="0">
              <a:buNone/>
            </a:pPr>
            <a:r>
              <a:rPr lang="en-US" sz="1800" b="1" dirty="0">
                <a:solidFill>
                  <a:schemeClr val="tx2"/>
                </a:solidFill>
              </a:rPr>
              <a:t>Deploy a digit recognition system</a:t>
            </a:r>
            <a:endParaRPr lang="en-US" sz="1800" dirty="0"/>
          </a:p>
        </p:txBody>
      </p:sp>
      <p:sp>
        <p:nvSpPr>
          <p:cNvPr id="22" name="Objective 5 text"/>
          <p:cNvSpPr txBox="1"/>
          <p:nvPr/>
        </p:nvSpPr>
        <p:spPr>
          <a:xfrm>
            <a:off x="1463040" y="5577840"/>
            <a:ext cx="6217920" cy="347472"/>
          </a:xfrm>
          <a:prstGeom prst="rect">
            <a:avLst/>
          </a:prstGeom>
          <a:noFill/>
          <a:ln/>
        </p:spPr>
        <p:txBody>
          <a:bodyPr wrap="square" lIns="0" tIns="0" rIns="0" bIns="0" rtlCol="0" anchor="ctr"/>
          <a:lstStyle/>
          <a:p>
            <a:pPr indent="0" marL="0">
              <a:buNone/>
            </a:pPr>
            <a:r>
              <a:rPr lang="en-US" sz="1500" dirty="0">
                <a:solidFill>
                  <a:schemeClr val="accent5"/>
                </a:solidFill>
              </a:rPr>
              <a:t>Users draw or upload a digit and get a prediction</a:t>
            </a:r>
            <a:endParaRPr lang="en-US" sz="1500" dirty="0"/>
          </a:p>
        </p:txBody>
      </p:sp>
      <p:sp>
        <p:nvSpPr>
          <p:cNvPr id="23" name="Target card"/>
          <p:cNvSpPr/>
          <p:nvPr/>
        </p:nvSpPr>
        <p:spPr>
          <a:xfrm>
            <a:off x="8138160" y="1371600"/>
            <a:ext cx="3474720" cy="4526280"/>
          </a:xfrm>
          <a:prstGeom prst="roundRect">
            <a:avLst>
              <a:gd name="adj" fmla="val 3158"/>
            </a:avLst>
          </a:prstGeom>
          <a:solidFill>
            <a:schemeClr val="tx2"/>
          </a:solidFill>
          <a:ln/>
        </p:spPr>
      </p:sp>
      <p:sp>
        <p:nvSpPr>
          <p:cNvPr id="24" name="Target head"/>
          <p:cNvSpPr txBox="1"/>
          <p:nvPr/>
        </p:nvSpPr>
        <p:spPr>
          <a:xfrm>
            <a:off x="8366760" y="1554480"/>
            <a:ext cx="3017520" cy="365760"/>
          </a:xfrm>
          <a:prstGeom prst="rect">
            <a:avLst/>
          </a:prstGeom>
          <a:noFill/>
          <a:ln/>
        </p:spPr>
        <p:txBody>
          <a:bodyPr wrap="square" lIns="0" tIns="0" rIns="0" bIns="0" rtlCol="0" anchor="ctr"/>
          <a:lstStyle/>
          <a:p>
            <a:pPr indent="0" marL="0">
              <a:buNone/>
            </a:pPr>
            <a:r>
              <a:rPr lang="en-US" sz="1600" b="1" dirty="0">
                <a:solidFill>
                  <a:schemeClr val="accent6"/>
                </a:solidFill>
              </a:rPr>
              <a:t>Target</a:t>
            </a:r>
            <a:endParaRPr lang="en-US" sz="1600" dirty="0"/>
          </a:p>
        </p:txBody>
      </p:sp>
      <p:sp>
        <p:nvSpPr>
          <p:cNvPr id="25" name="Target value"/>
          <p:cNvSpPr txBox="1"/>
          <p:nvPr/>
        </p:nvSpPr>
        <p:spPr>
          <a:xfrm>
            <a:off x="8366760" y="1920240"/>
            <a:ext cx="3017520" cy="731520"/>
          </a:xfrm>
          <a:prstGeom prst="rect">
            <a:avLst/>
          </a:prstGeom>
          <a:noFill/>
          <a:ln/>
        </p:spPr>
        <p:txBody>
          <a:bodyPr wrap="square" lIns="0" tIns="0" rIns="0" bIns="0" rtlCol="0" anchor="ctr"/>
          <a:lstStyle/>
          <a:p>
            <a:pPr indent="0" marL="0">
              <a:buNone/>
            </a:pPr>
            <a:r>
              <a:rPr lang="en-US" sz="4000" b="1" dirty="0">
                <a:solidFill>
                  <a:schemeClr val="bg1"/>
                </a:solidFill>
                <a:latin typeface="Century Schoolbook" pitchFamily="34" charset="0"/>
                <a:ea typeface="Century Schoolbook" pitchFamily="34" charset="-122"/>
                <a:cs typeface="Century Schoolbook" pitchFamily="34" charset="-120"/>
              </a:rPr>
              <a:t>&gt; 95%</a:t>
            </a:r>
            <a:endParaRPr lang="en-US" sz="4000" dirty="0"/>
          </a:p>
        </p:txBody>
      </p:sp>
      <p:sp>
        <p:nvSpPr>
          <p:cNvPr id="26" name="Target label"/>
          <p:cNvSpPr txBox="1"/>
          <p:nvPr/>
        </p:nvSpPr>
        <p:spPr>
          <a:xfrm>
            <a:off x="8366760" y="2651760"/>
            <a:ext cx="3017520" cy="365760"/>
          </a:xfrm>
          <a:prstGeom prst="rect">
            <a:avLst/>
          </a:prstGeom>
          <a:noFill/>
          <a:ln/>
        </p:spPr>
        <p:txBody>
          <a:bodyPr wrap="square" lIns="0" tIns="0" rIns="0" bIns="0" rtlCol="0" anchor="ctr"/>
          <a:lstStyle/>
          <a:p>
            <a:pPr indent="0" marL="0">
              <a:buNone/>
            </a:pPr>
            <a:r>
              <a:rPr lang="en-US" sz="1400" dirty="0">
                <a:solidFill>
                  <a:schemeClr val="accent6"/>
                </a:solidFill>
              </a:rPr>
              <a:t>accuracy (project guide)</a:t>
            </a:r>
            <a:endParaRPr lang="en-US" sz="1400" dirty="0"/>
          </a:p>
        </p:txBody>
      </p:sp>
      <p:sp>
        <p:nvSpPr>
          <p:cNvPr id="27" name="Achieved head"/>
          <p:cNvSpPr txBox="1"/>
          <p:nvPr/>
        </p:nvSpPr>
        <p:spPr>
          <a:xfrm>
            <a:off x="8366760" y="3291840"/>
            <a:ext cx="3017520" cy="365760"/>
          </a:xfrm>
          <a:prstGeom prst="rect">
            <a:avLst/>
          </a:prstGeom>
          <a:noFill/>
          <a:ln/>
        </p:spPr>
        <p:txBody>
          <a:bodyPr wrap="square" lIns="0" tIns="0" rIns="0" bIns="0" rtlCol="0" anchor="ctr"/>
          <a:lstStyle/>
          <a:p>
            <a:pPr indent="0" marL="0">
              <a:buNone/>
            </a:pPr>
            <a:r>
              <a:rPr lang="en-US" sz="1600" b="1" dirty="0">
                <a:solidFill>
                  <a:schemeClr val="accent6"/>
                </a:solidFill>
              </a:rPr>
              <a:t>Achieved</a:t>
            </a:r>
            <a:endParaRPr lang="en-US" sz="1600" dirty="0"/>
          </a:p>
        </p:txBody>
      </p:sp>
      <p:sp>
        <p:nvSpPr>
          <p:cNvPr id="28" name="Achieved value"/>
          <p:cNvSpPr txBox="1"/>
          <p:nvPr/>
        </p:nvSpPr>
        <p:spPr>
          <a:xfrm>
            <a:off x="8366760" y="3657600"/>
            <a:ext cx="3017520" cy="1325880"/>
          </a:xfrm>
          <a:prstGeom prst="rect">
            <a:avLst/>
          </a:prstGeom>
          <a:noFill/>
          <a:ln/>
        </p:spPr>
        <p:txBody>
          <a:bodyPr wrap="square" lIns="0" tIns="0" rIns="0" bIns="0" rtlCol="0" anchor="t"/>
          <a:lstStyle/>
          <a:p>
            <a:pPr indent="0" marL="0">
              <a:buNone/>
            </a:pPr>
            <a:r>
              <a:rPr lang="en-US" sz="4000" b="1" dirty="0">
                <a:solidFill>
                  <a:schemeClr val="bg1"/>
                </a:solidFill>
                <a:latin typeface="Century Schoolbook" pitchFamily="34" charset="0"/>
                <a:ea typeface="Century Schoolbook" pitchFamily="34" charset="-122"/>
                <a:cs typeface="Century Schoolbook" pitchFamily="34" charset="-120"/>
              </a:rPr>
              <a:t>99.19%</a:t>
            </a:r>
            <a:endParaRPr lang="en-US" sz="4000" dirty="0"/>
          </a:p>
          <a:p>
            <a:pPr indent="0" marL="0">
              <a:buNone/>
            </a:pPr>
            <a:r>
              <a:rPr lang="en-US" sz="2600" b="1" dirty="0">
                <a:solidFill>
                  <a:schemeClr val="bg1"/>
                </a:solidFill>
                <a:latin typeface="Century Schoolbook" pitchFamily="34" charset="0"/>
                <a:ea typeface="Century Schoolbook" pitchFamily="34" charset="-122"/>
                <a:cs typeface="Century Schoolbook" pitchFamily="34" charset="-120"/>
              </a:rPr>
              <a:t>97.93%</a:t>
            </a:r>
            <a:endParaRPr lang="en-US" sz="4000" dirty="0"/>
          </a:p>
        </p:txBody>
      </p:sp>
      <p:sp>
        <p:nvSpPr>
          <p:cNvPr id="29" name="Achieved label"/>
          <p:cNvSpPr txBox="1"/>
          <p:nvPr/>
        </p:nvSpPr>
        <p:spPr>
          <a:xfrm>
            <a:off x="8366760" y="5074920"/>
            <a:ext cx="3017520" cy="365760"/>
          </a:xfrm>
          <a:prstGeom prst="rect">
            <a:avLst/>
          </a:prstGeom>
          <a:noFill/>
          <a:ln/>
        </p:spPr>
        <p:txBody>
          <a:bodyPr wrap="square" lIns="0" tIns="0" rIns="0" bIns="0" rtlCol="0" anchor="ctr"/>
          <a:lstStyle/>
          <a:p>
            <a:pPr indent="0" marL="0">
              <a:buNone/>
            </a:pPr>
            <a:r>
              <a:rPr lang="en-US" sz="1400" dirty="0">
                <a:solidFill>
                  <a:schemeClr val="accent6"/>
                </a:solidFill>
              </a:rPr>
              <a:t>CNN  ·  dense network</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The MNIST dataset</a:t>
            </a:r>
            <a:endParaRPr lang="en-US" sz="3200" dirty="0"/>
          </a:p>
        </p:txBody>
      </p:sp>
      <p:graphicFrame>
        <p:nvGraphicFramePr>
          <p:cNvPr id="5" name="Dataset table"/>
          <p:cNvGraphicFramePr>
            <a:graphicFrameLocks noGrp="1"/>
          </p:cNvGraphicFramePr>
          <p:nvPr>
            <p:extLst>
              <p:ext uri="{D42A27DB-BD31-4B8C-83A1-F6EECF244321}">
                <p14:modId xmlns:p14="http://schemas.microsoft.com/office/powerpoint/2010/main" val="1579011935"/>
              </p:ext>
            </p:extLst>
          </p:nvPr>
        </p:nvGraphicFramePr>
        <p:xfrm>
          <a:off x="548640" y="1371600"/>
          <a:ext cx="4937760" cy="914400"/>
        </p:xfrm>
        <a:graphic>
          <a:graphicData uri="http://schemas.openxmlformats.org/drawingml/2006/table">
            <a:tbl>
              <a:tblPr/>
              <a:tblGrid>
                <a:gridCol w="1463040"/>
                <a:gridCol w="3474720"/>
              </a:tblGrid>
              <a:tr h="475488">
                <a:tc>
                  <a:txBody>
                    <a:bodyPr/>
                    <a:lstStyle/>
                    <a:p>
                      <a:pPr indent="0" marL="0">
                        <a:buNone/>
                      </a:pPr>
                      <a:r>
                        <a:rPr lang="en-US" sz="1400" b="1" dirty="0">
                          <a:solidFill>
                            <a:srgbClr val="1C2742"/>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3F5F9"/>
                    </a:solidFill>
                  </a:tcPr>
                </a:tc>
                <a:tc>
                  <a:txBody>
                    <a:bodyPr/>
                    <a:lstStyle/>
                    <a:p>
                      <a:pPr indent="0" marL="0">
                        <a:buNone/>
                      </a:pPr>
                      <a:r>
                        <a:rPr lang="en-US" sz="1400" dirty="0">
                          <a:solidFill>
                            <a:srgbClr val="15192A"/>
                          </a:solidFill>
                          <a:latin typeface="Calibri" pitchFamily="34" charset="0"/>
                          <a:ea typeface="Calibri" pitchFamily="34" charset="-122"/>
                          <a:cs typeface="Calibri" pitchFamily="34" charset="-120"/>
                        </a:rPr>
                        <a:t>LeCun, Cortes &amp; Burges; built into Keras</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475488">
                <a:tc>
                  <a:txBody>
                    <a:bodyPr/>
                    <a:lstStyle/>
                    <a:p>
                      <a:pPr indent="0" marL="0">
                        <a:buNone/>
                      </a:pPr>
                      <a:r>
                        <a:rPr lang="en-US" sz="1400" b="1" dirty="0">
                          <a:solidFill>
                            <a:srgbClr val="1C2742"/>
                          </a:solidFill>
                          <a:latin typeface="Calibri" pitchFamily="34" charset="0"/>
                          <a:ea typeface="Calibri" pitchFamily="34" charset="-122"/>
                          <a:cs typeface="Calibri" pitchFamily="34" charset="-120"/>
                        </a:rPr>
                        <a:t>Images</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3F5F9"/>
                    </a:solidFill>
                  </a:tcPr>
                </a:tc>
                <a:tc>
                  <a:txBody>
                    <a:bodyPr/>
                    <a:lstStyle/>
                    <a:p>
                      <a:pPr indent="0" marL="0">
                        <a:buNone/>
                      </a:pPr>
                      <a:r>
                        <a:rPr lang="en-US" sz="1400" dirty="0">
                          <a:solidFill>
                            <a:srgbClr val="15192A"/>
                          </a:solidFill>
                          <a:latin typeface="Calibri" pitchFamily="34" charset="0"/>
                          <a:ea typeface="Calibri" pitchFamily="34" charset="-122"/>
                          <a:cs typeface="Calibri" pitchFamily="34" charset="-120"/>
                        </a:rPr>
                        <a:t>70,000 handwritten digits</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475488">
                <a:tc>
                  <a:txBody>
                    <a:bodyPr/>
                    <a:lstStyle/>
                    <a:p>
                      <a:pPr indent="0" marL="0">
                        <a:buNone/>
                      </a:pPr>
                      <a:r>
                        <a:rPr lang="en-US" sz="1400" b="1" dirty="0">
                          <a:solidFill>
                            <a:srgbClr val="1C2742"/>
                          </a:solidFill>
                          <a:latin typeface="Calibri" pitchFamily="34" charset="0"/>
                          <a:ea typeface="Calibri" pitchFamily="34" charset="-122"/>
                          <a:cs typeface="Calibri" pitchFamily="34" charset="-120"/>
                        </a:rPr>
                        <a:t>Size</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3F5F9"/>
                    </a:solidFill>
                  </a:tcPr>
                </a:tc>
                <a:tc>
                  <a:txBody>
                    <a:bodyPr/>
                    <a:lstStyle/>
                    <a:p>
                      <a:pPr indent="0" marL="0">
                        <a:buNone/>
                      </a:pPr>
                      <a:r>
                        <a:rPr lang="en-US" sz="1400" dirty="0">
                          <a:solidFill>
                            <a:srgbClr val="15192A"/>
                          </a:solidFill>
                          <a:latin typeface="Calibri" pitchFamily="34" charset="0"/>
                          <a:ea typeface="Calibri" pitchFamily="34" charset="-122"/>
                          <a:cs typeface="Calibri" pitchFamily="34" charset="-120"/>
                        </a:rPr>
                        <a:t>28 × 28 pixels, grayscale</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475488">
                <a:tc>
                  <a:txBody>
                    <a:bodyPr/>
                    <a:lstStyle/>
                    <a:p>
                      <a:pPr indent="0" marL="0">
                        <a:buNone/>
                      </a:pPr>
                      <a:r>
                        <a:rPr lang="en-US" sz="1400" b="1" dirty="0">
                          <a:solidFill>
                            <a:srgbClr val="1C2742"/>
                          </a:solidFill>
                          <a:latin typeface="Calibri" pitchFamily="34" charset="0"/>
                          <a:ea typeface="Calibri" pitchFamily="34" charset="-122"/>
                          <a:cs typeface="Calibri" pitchFamily="34" charset="-120"/>
                        </a:rPr>
                        <a:t>Pixel values</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3F5F9"/>
                    </a:solidFill>
                  </a:tcPr>
                </a:tc>
                <a:tc>
                  <a:txBody>
                    <a:bodyPr/>
                    <a:lstStyle/>
                    <a:p>
                      <a:pPr indent="0" marL="0">
                        <a:buNone/>
                      </a:pPr>
                      <a:r>
                        <a:rPr lang="en-US" sz="1400" dirty="0">
                          <a:solidFill>
                            <a:srgbClr val="15192A"/>
                          </a:solidFill>
                          <a:latin typeface="Calibri" pitchFamily="34" charset="0"/>
                          <a:ea typeface="Calibri" pitchFamily="34" charset="-122"/>
                          <a:cs typeface="Calibri" pitchFamily="34" charset="-120"/>
                        </a:rPr>
                        <a:t>0 (black) to 255 (white)</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475488">
                <a:tc>
                  <a:txBody>
                    <a:bodyPr/>
                    <a:lstStyle/>
                    <a:p>
                      <a:pPr indent="0" marL="0">
                        <a:buNone/>
                      </a:pPr>
                      <a:r>
                        <a:rPr lang="en-US" sz="1400" b="1" dirty="0">
                          <a:solidFill>
                            <a:srgbClr val="1C2742"/>
                          </a:solidFill>
                          <a:latin typeface="Calibri" pitchFamily="34" charset="0"/>
                          <a:ea typeface="Calibri" pitchFamily="34" charset="-122"/>
                          <a:cs typeface="Calibri" pitchFamily="34" charset="-120"/>
                        </a:rPr>
                        <a:t>Split</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3F5F9"/>
                    </a:solidFill>
                  </a:tcPr>
                </a:tc>
                <a:tc>
                  <a:txBody>
                    <a:bodyPr/>
                    <a:lstStyle/>
                    <a:p>
                      <a:pPr indent="0" marL="0">
                        <a:buNone/>
                      </a:pPr>
                      <a:r>
                        <a:rPr lang="en-US" sz="1400" dirty="0">
                          <a:solidFill>
                            <a:srgbClr val="15192A"/>
                          </a:solidFill>
                          <a:latin typeface="Calibri" pitchFamily="34" charset="0"/>
                          <a:ea typeface="Calibri" pitchFamily="34" charset="-122"/>
                          <a:cs typeface="Calibri" pitchFamily="34" charset="-120"/>
                        </a:rPr>
                        <a:t>60,000 training · 10,000 test</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475488">
                <a:tc>
                  <a:txBody>
                    <a:bodyPr/>
                    <a:lstStyle/>
                    <a:p>
                      <a:pPr indent="0" marL="0">
                        <a:buNone/>
                      </a:pPr>
                      <a:r>
                        <a:rPr lang="en-US" sz="1400" b="1" dirty="0">
                          <a:solidFill>
                            <a:srgbClr val="1C2742"/>
                          </a:solidFill>
                          <a:latin typeface="Calibri" pitchFamily="34" charset="0"/>
                          <a:ea typeface="Calibri" pitchFamily="34" charset="-122"/>
                          <a:cs typeface="Calibri" pitchFamily="34" charset="-120"/>
                        </a:rPr>
                        <a:t>Classes</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3F5F9"/>
                    </a:solidFill>
                  </a:tcPr>
                </a:tc>
                <a:tc>
                  <a:txBody>
                    <a:bodyPr/>
                    <a:lstStyle/>
                    <a:p>
                      <a:pPr indent="0" marL="0">
                        <a:buNone/>
                      </a:pPr>
                      <a:r>
                        <a:rPr lang="en-US" sz="1400" dirty="0">
                          <a:solidFill>
                            <a:srgbClr val="15192A"/>
                          </a:solidFill>
                          <a:latin typeface="Calibri" pitchFamily="34" charset="0"/>
                          <a:ea typeface="Calibri" pitchFamily="34" charset="-122"/>
                          <a:cs typeface="Calibri" pitchFamily="34" charset="-120"/>
                        </a:rPr>
                        <a:t>10 digits, 5,421–6,742 training images each</a:t>
                      </a:r>
                      <a:endParaRPr lang="en-US" sz="14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bl>
          </a:graphicData>
        </a:graphic>
      </p:graphicFrame>
      <p:pic>
        <p:nvPicPr>
          <p:cNvPr id="4" name="Sample images" descr="/home/claude/project2/mnist-digit-classification-nn/results/figures/01_sample_images.png">    </p:cNvPr>
          <p:cNvPicPr>
            <a:picLocks noChangeAspect="1"/>
          </p:cNvPicPr>
          <p:nvPr/>
        </p:nvPicPr>
        <p:blipFill>
          <a:blip r:embed="rId1"/>
          <a:stretch>
            <a:fillRect/>
          </a:stretch>
        </p:blipFill>
        <p:spPr>
          <a:xfrm>
            <a:off x="5852160" y="1495984"/>
            <a:ext cx="5760720" cy="2037231"/>
          </a:xfrm>
          <a:prstGeom prst="rect">
            <a:avLst/>
          </a:prstGeom>
        </p:spPr>
      </p:pic>
      <p:pic>
        <p:nvPicPr>
          <p:cNvPr id="5" name="Mean digits" descr="/home/claude/project2/mnist-digit-classification-nn/results/figures/03_mean_digits.png">    </p:cNvPr>
          <p:cNvPicPr>
            <a:picLocks noChangeAspect="1"/>
          </p:cNvPicPr>
          <p:nvPr/>
        </p:nvPicPr>
        <p:blipFill>
          <a:blip r:embed="rId2"/>
          <a:stretch>
            <a:fillRect/>
          </a:stretch>
        </p:blipFill>
        <p:spPr>
          <a:xfrm>
            <a:off x="5852160" y="4113644"/>
            <a:ext cx="5760720" cy="870991"/>
          </a:xfrm>
          <a:prstGeom prst="rect">
            <a:avLst/>
          </a:prstGeom>
        </p:spPr>
      </p:pic>
      <p:sp>
        <p:nvSpPr>
          <p:cNvPr id="6" name="Images caption"/>
          <p:cNvSpPr txBox="1"/>
          <p:nvPr/>
        </p:nvSpPr>
        <p:spPr>
          <a:xfrm>
            <a:off x="5852160" y="5257800"/>
            <a:ext cx="5760720" cy="411480"/>
          </a:xfrm>
          <a:prstGeom prst="rect">
            <a:avLst/>
          </a:prstGeom>
          <a:noFill/>
          <a:ln/>
        </p:spPr>
        <p:txBody>
          <a:bodyPr wrap="square" lIns="0" tIns="0" rIns="0" bIns="0" rtlCol="0" anchor="ctr"/>
          <a:lstStyle/>
          <a:p>
            <a:pPr indent="0" marL="0">
              <a:buNone/>
            </a:pPr>
            <a:r>
              <a:rPr lang="en-US" sz="1300" i="1" dirty="0">
                <a:solidFill>
                  <a:schemeClr val="accent5"/>
                </a:solidFill>
              </a:rPr>
              <a:t>Top: the first 30 training images. Bottom: the 'average' of every image of each digit.</a:t>
            </a:r>
            <a:endParaRPr lang="en-US" sz="1300" dirty="0"/>
          </a:p>
        </p:txBody>
      </p:sp>
      <p:sp>
        <p:nvSpPr>
          <p:cNvPr id="7" name="Pixel fact"/>
          <p:cNvSpPr txBox="1"/>
          <p:nvPr/>
        </p:nvSpPr>
        <p:spPr>
          <a:xfrm>
            <a:off x="548640" y="4434840"/>
            <a:ext cx="4937760" cy="731520"/>
          </a:xfrm>
          <a:prstGeom prst="rect">
            <a:avLst/>
          </a:prstGeom>
          <a:noFill/>
          <a:ln/>
        </p:spPr>
        <p:txBody>
          <a:bodyPr wrap="square" lIns="0" tIns="0" rIns="0" bIns="0" rtlCol="0" anchor="ctr"/>
          <a:lstStyle/>
          <a:p>
            <a:pPr indent="0" marL="0">
              <a:buNone/>
            </a:pPr>
            <a:r>
              <a:rPr lang="en-US" sz="1500" dirty="0">
                <a:solidFill>
                  <a:schemeClr val="tx1"/>
                </a:solidFill>
              </a:rPr>
              <a:t>81% of all pixels are pure black background; the digit occupies the centre 20 × 20 area.</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Exploring the data</a:t>
            </a:r>
            <a:endParaRPr lang="en-US" sz="3200" dirty="0"/>
          </a:p>
        </p:txBody>
      </p:sp>
      <p:graphicFrame>
        <p:nvGraphicFramePr>
          <p:cNvPr id="3" name="Class chart" descr=""/>
          <p:cNvGraphicFramePr/>
          <p:nvPr/>
        </p:nvGraphicFramePr>
        <p:xfrm>
          <a:off x="548640" y="128016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4" name="Finding 1"/>
          <p:cNvSpPr/>
          <p:nvPr/>
        </p:nvSpPr>
        <p:spPr>
          <a:xfrm>
            <a:off x="6949440" y="1371600"/>
            <a:ext cx="4663440" cy="1234440"/>
          </a:xfrm>
          <a:prstGeom prst="roundRect">
            <a:avLst>
              <a:gd name="adj" fmla="val 8889"/>
            </a:avLst>
          </a:prstGeom>
          <a:solidFill>
            <a:schemeClr val="bg2"/>
          </a:solidFill>
          <a:ln/>
        </p:spPr>
      </p:sp>
      <p:sp>
        <p:nvSpPr>
          <p:cNvPr id="5" name="Finding 1 text"/>
          <p:cNvSpPr txBox="1"/>
          <p:nvPr/>
        </p:nvSpPr>
        <p:spPr>
          <a:xfrm>
            <a:off x="7132320" y="1481328"/>
            <a:ext cx="4343400" cy="105156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Balanced classes</a:t>
            </a:r>
            <a:endParaRPr lang="en-US" sz="1600" dirty="0"/>
          </a:p>
          <a:p>
            <a:pPr indent="0" marL="0">
              <a:spcAft>
                <a:spcPts val="300"/>
              </a:spcAft>
              <a:buNone/>
            </a:pPr>
            <a:r>
              <a:rPr lang="en-US" sz="1400" dirty="0">
                <a:solidFill>
                  <a:schemeClr val="tx1"/>
                </a:solidFill>
              </a:rPr>
              <a:t>Every digit has 5,421–6,742 training images, so accuracy is a fair measure.</a:t>
            </a:r>
            <a:endParaRPr lang="en-US" sz="1600" dirty="0"/>
          </a:p>
        </p:txBody>
      </p:sp>
      <p:sp>
        <p:nvSpPr>
          <p:cNvPr id="6" name="Finding 2"/>
          <p:cNvSpPr/>
          <p:nvPr/>
        </p:nvSpPr>
        <p:spPr>
          <a:xfrm>
            <a:off x="6949440" y="2788920"/>
            <a:ext cx="4663440" cy="1234440"/>
          </a:xfrm>
          <a:prstGeom prst="roundRect">
            <a:avLst>
              <a:gd name="adj" fmla="val 8889"/>
            </a:avLst>
          </a:prstGeom>
          <a:solidFill>
            <a:schemeClr val="bg2"/>
          </a:solidFill>
          <a:ln/>
        </p:spPr>
      </p:sp>
      <p:sp>
        <p:nvSpPr>
          <p:cNvPr id="7" name="Finding 2 text"/>
          <p:cNvSpPr txBox="1"/>
          <p:nvPr/>
        </p:nvSpPr>
        <p:spPr>
          <a:xfrm>
            <a:off x="7132320" y="2898648"/>
            <a:ext cx="4343400" cy="105156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Mostly background</a:t>
            </a:r>
            <a:endParaRPr lang="en-US" sz="1600" dirty="0"/>
          </a:p>
          <a:p>
            <a:pPr indent="0" marL="0">
              <a:spcAft>
                <a:spcPts val="300"/>
              </a:spcAft>
              <a:buNone/>
            </a:pPr>
            <a:r>
              <a:rPr lang="en-US" sz="1400" dirty="0">
                <a:solidFill>
                  <a:schemeClr val="tx1"/>
                </a:solidFill>
              </a:rPr>
              <a:t>81% of pixels are pure black; the information sits in the strokes.</a:t>
            </a:r>
            <a:endParaRPr lang="en-US" sz="1600" dirty="0"/>
          </a:p>
        </p:txBody>
      </p:sp>
      <p:sp>
        <p:nvSpPr>
          <p:cNvPr id="8" name="Finding 3"/>
          <p:cNvSpPr/>
          <p:nvPr/>
        </p:nvSpPr>
        <p:spPr>
          <a:xfrm>
            <a:off x="6949440" y="4206240"/>
            <a:ext cx="4663440" cy="1234440"/>
          </a:xfrm>
          <a:prstGeom prst="roundRect">
            <a:avLst>
              <a:gd name="adj" fmla="val 8889"/>
            </a:avLst>
          </a:prstGeom>
          <a:solidFill>
            <a:schemeClr val="bg2"/>
          </a:solidFill>
          <a:ln/>
        </p:spPr>
      </p:sp>
      <p:sp>
        <p:nvSpPr>
          <p:cNvPr id="9" name="Finding 3 text"/>
          <p:cNvSpPr txBox="1"/>
          <p:nvPr/>
        </p:nvSpPr>
        <p:spPr>
          <a:xfrm>
            <a:off x="7132320" y="4315968"/>
            <a:ext cx="4343400" cy="105156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Clear shapes, big variety</a:t>
            </a:r>
            <a:endParaRPr lang="en-US" sz="1600" dirty="0"/>
          </a:p>
          <a:p>
            <a:pPr indent="0" marL="0">
              <a:spcAft>
                <a:spcPts val="300"/>
              </a:spcAft>
              <a:buNone/>
            </a:pPr>
            <a:r>
              <a:rPr lang="en-US" sz="1400" dirty="0">
                <a:solidFill>
                  <a:schemeClr val="tx1"/>
                </a:solidFill>
              </a:rPr>
              <a:t>Average images show each digit clearly, but individual samples vary in slant, thickness and style.</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Methodology: six phases</a:t>
            </a:r>
            <a:endParaRPr lang="en-US" sz="3200" dirty="0"/>
          </a:p>
        </p:txBody>
      </p:sp>
      <p:sp>
        <p:nvSpPr>
          <p:cNvPr id="3" name="Phase 1"/>
          <p:cNvSpPr/>
          <p:nvPr/>
        </p:nvSpPr>
        <p:spPr>
          <a:xfrm>
            <a:off x="548640" y="1463040"/>
            <a:ext cx="1737360" cy="2834640"/>
          </a:xfrm>
          <a:prstGeom prst="roundRect">
            <a:avLst>
              <a:gd name="adj" fmla="val 6316"/>
            </a:avLst>
          </a:prstGeom>
          <a:solidFill>
            <a:schemeClr val="accent6"/>
          </a:solidFill>
          <a:ln/>
        </p:spPr>
      </p:sp>
      <p:sp>
        <p:nvSpPr>
          <p:cNvPr id="4" name="Phase 1 badge"/>
          <p:cNvSpPr/>
          <p:nvPr/>
        </p:nvSpPr>
        <p:spPr>
          <a:xfrm>
            <a:off x="1115568" y="1645920"/>
            <a:ext cx="603504" cy="603504"/>
          </a:xfrm>
          <a:prstGeom prst="ellipse">
            <a:avLst/>
          </a:prstGeom>
          <a:solidFill>
            <a:schemeClr val="accent1"/>
          </a:solidFill>
          <a:ln/>
        </p:spPr>
      </p:sp>
      <p:sp>
        <p:nvSpPr>
          <p:cNvPr id="5" name="Phase 1 n"/>
          <p:cNvSpPr txBox="1"/>
          <p:nvPr/>
        </p:nvSpPr>
        <p:spPr>
          <a:xfrm>
            <a:off x="1115568" y="164592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Phase 1 head"/>
          <p:cNvSpPr txBox="1"/>
          <p:nvPr/>
        </p:nvSpPr>
        <p:spPr>
          <a:xfrm>
            <a:off x="640080" y="2377440"/>
            <a:ext cx="1554480" cy="685800"/>
          </a:xfrm>
          <a:prstGeom prst="rect">
            <a:avLst/>
          </a:prstGeom>
          <a:noFill/>
          <a:ln/>
        </p:spPr>
        <p:txBody>
          <a:bodyPr wrap="square" lIns="0" tIns="0" rIns="0" bIns="0" rtlCol="0" anchor="ctr"/>
          <a:lstStyle/>
          <a:p>
            <a:pPr algn="ctr" indent="0" marL="0">
              <a:buNone/>
            </a:pPr>
            <a:r>
              <a:rPr lang="en-US" sz="1600" b="1" dirty="0">
                <a:solidFill>
                  <a:schemeClr val="tx2"/>
                </a:solidFill>
              </a:rPr>
              <a:t>Data collection</a:t>
            </a:r>
            <a:endParaRPr lang="en-US" sz="1600" dirty="0"/>
          </a:p>
        </p:txBody>
      </p:sp>
      <p:sp>
        <p:nvSpPr>
          <p:cNvPr id="7" name="Phase 1 text"/>
          <p:cNvSpPr txBox="1"/>
          <p:nvPr/>
        </p:nvSpPr>
        <p:spPr>
          <a:xfrm>
            <a:off x="676656" y="3108960"/>
            <a:ext cx="1481328" cy="1097280"/>
          </a:xfrm>
          <a:prstGeom prst="rect">
            <a:avLst/>
          </a:prstGeom>
          <a:noFill/>
          <a:ln/>
        </p:spPr>
        <p:txBody>
          <a:bodyPr wrap="square" lIns="0" tIns="0" rIns="0" bIns="0" rtlCol="0" anchor="t"/>
          <a:lstStyle/>
          <a:p>
            <a:pPr algn="ctr" indent="0" marL="0">
              <a:buNone/>
            </a:pPr>
            <a:r>
              <a:rPr lang="en-US" sz="1400" dirty="0">
                <a:solidFill>
                  <a:schemeClr val="tx1"/>
                </a:solidFill>
              </a:rPr>
              <a:t>Load MNIST and explore samples</a:t>
            </a:r>
            <a:endParaRPr lang="en-US" sz="1400" dirty="0"/>
          </a:p>
        </p:txBody>
      </p:sp>
      <p:sp>
        <p:nvSpPr>
          <p:cNvPr id="8" name="Phase 2"/>
          <p:cNvSpPr/>
          <p:nvPr/>
        </p:nvSpPr>
        <p:spPr>
          <a:xfrm>
            <a:off x="2414016" y="1463040"/>
            <a:ext cx="1737360" cy="2834640"/>
          </a:xfrm>
          <a:prstGeom prst="roundRect">
            <a:avLst>
              <a:gd name="adj" fmla="val 6316"/>
            </a:avLst>
          </a:prstGeom>
          <a:solidFill>
            <a:schemeClr val="bg2"/>
          </a:solidFill>
          <a:ln/>
        </p:spPr>
      </p:sp>
      <p:sp>
        <p:nvSpPr>
          <p:cNvPr id="9" name="Phase 2 badge"/>
          <p:cNvSpPr/>
          <p:nvPr/>
        </p:nvSpPr>
        <p:spPr>
          <a:xfrm>
            <a:off x="2980944" y="1645920"/>
            <a:ext cx="603504" cy="603504"/>
          </a:xfrm>
          <a:prstGeom prst="ellipse">
            <a:avLst/>
          </a:prstGeom>
          <a:solidFill>
            <a:schemeClr val="accent1"/>
          </a:solidFill>
          <a:ln/>
        </p:spPr>
      </p:sp>
      <p:sp>
        <p:nvSpPr>
          <p:cNvPr id="10" name="Phase 2 n"/>
          <p:cNvSpPr txBox="1"/>
          <p:nvPr/>
        </p:nvSpPr>
        <p:spPr>
          <a:xfrm>
            <a:off x="2980944" y="164592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Phase 2 head"/>
          <p:cNvSpPr txBox="1"/>
          <p:nvPr/>
        </p:nvSpPr>
        <p:spPr>
          <a:xfrm>
            <a:off x="2505456" y="2377440"/>
            <a:ext cx="1554480" cy="685800"/>
          </a:xfrm>
          <a:prstGeom prst="rect">
            <a:avLst/>
          </a:prstGeom>
          <a:noFill/>
          <a:ln/>
        </p:spPr>
        <p:txBody>
          <a:bodyPr wrap="square" lIns="0" tIns="0" rIns="0" bIns="0" rtlCol="0" anchor="ctr"/>
          <a:lstStyle/>
          <a:p>
            <a:pPr algn="ctr" indent="0" marL="0">
              <a:buNone/>
            </a:pPr>
            <a:r>
              <a:rPr lang="en-US" sz="1600" b="1" dirty="0">
                <a:solidFill>
                  <a:schemeClr val="tx2"/>
                </a:solidFill>
              </a:rPr>
              <a:t>Preprocessing</a:t>
            </a:r>
            <a:endParaRPr lang="en-US" sz="1600" dirty="0"/>
          </a:p>
        </p:txBody>
      </p:sp>
      <p:sp>
        <p:nvSpPr>
          <p:cNvPr id="12" name="Phase 2 text"/>
          <p:cNvSpPr txBox="1"/>
          <p:nvPr/>
        </p:nvSpPr>
        <p:spPr>
          <a:xfrm>
            <a:off x="2542032" y="3108960"/>
            <a:ext cx="1481328" cy="1097280"/>
          </a:xfrm>
          <a:prstGeom prst="rect">
            <a:avLst/>
          </a:prstGeom>
          <a:noFill/>
          <a:ln/>
        </p:spPr>
        <p:txBody>
          <a:bodyPr wrap="square" lIns="0" tIns="0" rIns="0" bIns="0" rtlCol="0" anchor="t"/>
          <a:lstStyle/>
          <a:p>
            <a:pPr algn="ctr" indent="0" marL="0">
              <a:buNone/>
            </a:pPr>
            <a:r>
              <a:rPr lang="en-US" sz="1400" dirty="0">
                <a:solidFill>
                  <a:schemeClr val="tx1"/>
                </a:solidFill>
              </a:rPr>
              <a:t>Normalise to 0–1, reshape, validation split</a:t>
            </a:r>
            <a:endParaRPr lang="en-US" sz="1400" dirty="0"/>
          </a:p>
        </p:txBody>
      </p:sp>
      <p:sp>
        <p:nvSpPr>
          <p:cNvPr id="13" name="Phase 3"/>
          <p:cNvSpPr/>
          <p:nvPr/>
        </p:nvSpPr>
        <p:spPr>
          <a:xfrm>
            <a:off x="4279392" y="1463040"/>
            <a:ext cx="1737360" cy="2834640"/>
          </a:xfrm>
          <a:prstGeom prst="roundRect">
            <a:avLst>
              <a:gd name="adj" fmla="val 6316"/>
            </a:avLst>
          </a:prstGeom>
          <a:solidFill>
            <a:schemeClr val="accent6"/>
          </a:solidFill>
          <a:ln/>
        </p:spPr>
      </p:sp>
      <p:sp>
        <p:nvSpPr>
          <p:cNvPr id="14" name="Phase 3 badge"/>
          <p:cNvSpPr/>
          <p:nvPr/>
        </p:nvSpPr>
        <p:spPr>
          <a:xfrm>
            <a:off x="4846320" y="1645920"/>
            <a:ext cx="603504" cy="603504"/>
          </a:xfrm>
          <a:prstGeom prst="ellipse">
            <a:avLst/>
          </a:prstGeom>
          <a:solidFill>
            <a:schemeClr val="accent1"/>
          </a:solidFill>
          <a:ln/>
        </p:spPr>
      </p:sp>
      <p:sp>
        <p:nvSpPr>
          <p:cNvPr id="15" name="Phase 3 n"/>
          <p:cNvSpPr txBox="1"/>
          <p:nvPr/>
        </p:nvSpPr>
        <p:spPr>
          <a:xfrm>
            <a:off x="4846320" y="164592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Phase 3 head"/>
          <p:cNvSpPr txBox="1"/>
          <p:nvPr/>
        </p:nvSpPr>
        <p:spPr>
          <a:xfrm>
            <a:off x="4370832" y="2377440"/>
            <a:ext cx="1554480" cy="685800"/>
          </a:xfrm>
          <a:prstGeom prst="rect">
            <a:avLst/>
          </a:prstGeom>
          <a:noFill/>
          <a:ln/>
        </p:spPr>
        <p:txBody>
          <a:bodyPr wrap="square" lIns="0" tIns="0" rIns="0" bIns="0" rtlCol="0" anchor="ctr"/>
          <a:lstStyle/>
          <a:p>
            <a:pPr algn="ctr" indent="0" marL="0">
              <a:buNone/>
            </a:pPr>
            <a:r>
              <a:rPr lang="en-US" sz="1600" b="1" dirty="0">
                <a:solidFill>
                  <a:schemeClr val="tx2"/>
                </a:solidFill>
              </a:rPr>
              <a:t>Model development</a:t>
            </a:r>
            <a:endParaRPr lang="en-US" sz="1600" dirty="0"/>
          </a:p>
        </p:txBody>
      </p:sp>
      <p:sp>
        <p:nvSpPr>
          <p:cNvPr id="17" name="Phase 3 text"/>
          <p:cNvSpPr txBox="1"/>
          <p:nvPr/>
        </p:nvSpPr>
        <p:spPr>
          <a:xfrm>
            <a:off x="4407408" y="3108960"/>
            <a:ext cx="1481328" cy="1097280"/>
          </a:xfrm>
          <a:prstGeom prst="rect">
            <a:avLst/>
          </a:prstGeom>
          <a:noFill/>
          <a:ln/>
        </p:spPr>
        <p:txBody>
          <a:bodyPr wrap="square" lIns="0" tIns="0" rIns="0" bIns="0" rtlCol="0" anchor="t"/>
          <a:lstStyle/>
          <a:p>
            <a:pPr algn="ctr" indent="0" marL="0">
              <a:buNone/>
            </a:pPr>
            <a:r>
              <a:rPr lang="en-US" sz="1400" dirty="0">
                <a:solidFill>
                  <a:schemeClr val="tx1"/>
                </a:solidFill>
              </a:rPr>
              <a:t>Dense network and CNN</a:t>
            </a:r>
            <a:endParaRPr lang="en-US" sz="1400" dirty="0"/>
          </a:p>
        </p:txBody>
      </p:sp>
      <p:sp>
        <p:nvSpPr>
          <p:cNvPr id="18" name="Phase 4"/>
          <p:cNvSpPr/>
          <p:nvPr/>
        </p:nvSpPr>
        <p:spPr>
          <a:xfrm>
            <a:off x="6144768" y="1463040"/>
            <a:ext cx="1737360" cy="2834640"/>
          </a:xfrm>
          <a:prstGeom prst="roundRect">
            <a:avLst>
              <a:gd name="adj" fmla="val 6316"/>
            </a:avLst>
          </a:prstGeom>
          <a:solidFill>
            <a:schemeClr val="bg2"/>
          </a:solidFill>
          <a:ln/>
        </p:spPr>
      </p:sp>
      <p:sp>
        <p:nvSpPr>
          <p:cNvPr id="19" name="Phase 4 badge"/>
          <p:cNvSpPr/>
          <p:nvPr/>
        </p:nvSpPr>
        <p:spPr>
          <a:xfrm>
            <a:off x="6711696" y="1645920"/>
            <a:ext cx="603504" cy="603504"/>
          </a:xfrm>
          <a:prstGeom prst="ellipse">
            <a:avLst/>
          </a:prstGeom>
          <a:solidFill>
            <a:schemeClr val="accent1"/>
          </a:solidFill>
          <a:ln/>
        </p:spPr>
      </p:sp>
      <p:sp>
        <p:nvSpPr>
          <p:cNvPr id="20" name="Phase 4 n"/>
          <p:cNvSpPr txBox="1"/>
          <p:nvPr/>
        </p:nvSpPr>
        <p:spPr>
          <a:xfrm>
            <a:off x="6711696" y="164592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Phase 4 head"/>
          <p:cNvSpPr txBox="1"/>
          <p:nvPr/>
        </p:nvSpPr>
        <p:spPr>
          <a:xfrm>
            <a:off x="6236208" y="2377440"/>
            <a:ext cx="1554480" cy="685800"/>
          </a:xfrm>
          <a:prstGeom prst="rect">
            <a:avLst/>
          </a:prstGeom>
          <a:noFill/>
          <a:ln/>
        </p:spPr>
        <p:txBody>
          <a:bodyPr wrap="square" lIns="0" tIns="0" rIns="0" bIns="0" rtlCol="0" anchor="ctr"/>
          <a:lstStyle/>
          <a:p>
            <a:pPr algn="ctr" indent="0" marL="0">
              <a:buNone/>
            </a:pPr>
            <a:r>
              <a:rPr lang="en-US" sz="1600" b="1" dirty="0">
                <a:solidFill>
                  <a:schemeClr val="tx2"/>
                </a:solidFill>
              </a:rPr>
              <a:t>Model training</a:t>
            </a:r>
            <a:endParaRPr lang="en-US" sz="1600" dirty="0"/>
          </a:p>
        </p:txBody>
      </p:sp>
      <p:sp>
        <p:nvSpPr>
          <p:cNvPr id="22" name="Phase 4 text"/>
          <p:cNvSpPr txBox="1"/>
          <p:nvPr/>
        </p:nvSpPr>
        <p:spPr>
          <a:xfrm>
            <a:off x="6272784" y="3108960"/>
            <a:ext cx="1481328" cy="1097280"/>
          </a:xfrm>
          <a:prstGeom prst="rect">
            <a:avLst/>
          </a:prstGeom>
          <a:noFill/>
          <a:ln/>
        </p:spPr>
        <p:txBody>
          <a:bodyPr wrap="square" lIns="0" tIns="0" rIns="0" bIns="0" rtlCol="0" anchor="t"/>
          <a:lstStyle/>
          <a:p>
            <a:pPr algn="ctr" indent="0" marL="0">
              <a:buNone/>
            </a:pPr>
            <a:r>
              <a:rPr lang="en-US" sz="1400" dirty="0">
                <a:solidFill>
                  <a:schemeClr val="tx1"/>
                </a:solidFill>
              </a:rPr>
              <a:t>Adam, early stopping, track accuracy and loss</a:t>
            </a:r>
            <a:endParaRPr lang="en-US" sz="1400" dirty="0"/>
          </a:p>
        </p:txBody>
      </p:sp>
      <p:sp>
        <p:nvSpPr>
          <p:cNvPr id="23" name="Phase 5"/>
          <p:cNvSpPr/>
          <p:nvPr/>
        </p:nvSpPr>
        <p:spPr>
          <a:xfrm>
            <a:off x="8010144" y="1463040"/>
            <a:ext cx="1737360" cy="2834640"/>
          </a:xfrm>
          <a:prstGeom prst="roundRect">
            <a:avLst>
              <a:gd name="adj" fmla="val 6316"/>
            </a:avLst>
          </a:prstGeom>
          <a:solidFill>
            <a:schemeClr val="accent6"/>
          </a:solidFill>
          <a:ln/>
        </p:spPr>
      </p:sp>
      <p:sp>
        <p:nvSpPr>
          <p:cNvPr id="24" name="Phase 5 badge"/>
          <p:cNvSpPr/>
          <p:nvPr/>
        </p:nvSpPr>
        <p:spPr>
          <a:xfrm>
            <a:off x="8577072" y="1645920"/>
            <a:ext cx="603504" cy="603504"/>
          </a:xfrm>
          <a:prstGeom prst="ellipse">
            <a:avLst/>
          </a:prstGeom>
          <a:solidFill>
            <a:schemeClr val="accent1"/>
          </a:solidFill>
          <a:ln/>
        </p:spPr>
      </p:sp>
      <p:sp>
        <p:nvSpPr>
          <p:cNvPr id="25" name="Phase 5 n"/>
          <p:cNvSpPr txBox="1"/>
          <p:nvPr/>
        </p:nvSpPr>
        <p:spPr>
          <a:xfrm>
            <a:off x="8577072" y="164592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Phase 5 head"/>
          <p:cNvSpPr txBox="1"/>
          <p:nvPr/>
        </p:nvSpPr>
        <p:spPr>
          <a:xfrm>
            <a:off x="8101584" y="2377440"/>
            <a:ext cx="1554480" cy="685800"/>
          </a:xfrm>
          <a:prstGeom prst="rect">
            <a:avLst/>
          </a:prstGeom>
          <a:noFill/>
          <a:ln/>
        </p:spPr>
        <p:txBody>
          <a:bodyPr wrap="square" lIns="0" tIns="0" rIns="0" bIns="0" rtlCol="0" anchor="ctr"/>
          <a:lstStyle/>
          <a:p>
            <a:pPr algn="ctr" indent="0" marL="0">
              <a:buNone/>
            </a:pPr>
            <a:r>
              <a:rPr lang="en-US" sz="1600" b="1" dirty="0">
                <a:solidFill>
                  <a:schemeClr val="tx2"/>
                </a:solidFill>
              </a:rPr>
              <a:t>Testing &amp; evaluation</a:t>
            </a:r>
            <a:endParaRPr lang="en-US" sz="1600" dirty="0"/>
          </a:p>
        </p:txBody>
      </p:sp>
      <p:sp>
        <p:nvSpPr>
          <p:cNvPr id="27" name="Phase 5 text"/>
          <p:cNvSpPr txBox="1"/>
          <p:nvPr/>
        </p:nvSpPr>
        <p:spPr>
          <a:xfrm>
            <a:off x="8138160" y="3108960"/>
            <a:ext cx="1481328" cy="1097280"/>
          </a:xfrm>
          <a:prstGeom prst="rect">
            <a:avLst/>
          </a:prstGeom>
          <a:noFill/>
          <a:ln/>
        </p:spPr>
        <p:txBody>
          <a:bodyPr wrap="square" lIns="0" tIns="0" rIns="0" bIns="0" rtlCol="0" anchor="t"/>
          <a:lstStyle/>
          <a:p>
            <a:pPr algn="ctr" indent="0" marL="0">
              <a:buNone/>
            </a:pPr>
            <a:r>
              <a:rPr lang="en-US" sz="1400" dirty="0">
                <a:solidFill>
                  <a:schemeClr val="tx1"/>
                </a:solidFill>
              </a:rPr>
              <a:t>10,000 unseen images, full metrics</a:t>
            </a:r>
            <a:endParaRPr lang="en-US" sz="1400" dirty="0"/>
          </a:p>
        </p:txBody>
      </p:sp>
      <p:sp>
        <p:nvSpPr>
          <p:cNvPr id="28" name="Phase 6"/>
          <p:cNvSpPr/>
          <p:nvPr/>
        </p:nvSpPr>
        <p:spPr>
          <a:xfrm>
            <a:off x="9875520" y="1463040"/>
            <a:ext cx="1737360" cy="2834640"/>
          </a:xfrm>
          <a:prstGeom prst="roundRect">
            <a:avLst>
              <a:gd name="adj" fmla="val 6316"/>
            </a:avLst>
          </a:prstGeom>
          <a:solidFill>
            <a:schemeClr val="bg2"/>
          </a:solidFill>
          <a:ln/>
        </p:spPr>
      </p:sp>
      <p:sp>
        <p:nvSpPr>
          <p:cNvPr id="29" name="Phase 6 badge"/>
          <p:cNvSpPr/>
          <p:nvPr/>
        </p:nvSpPr>
        <p:spPr>
          <a:xfrm>
            <a:off x="10442448" y="1645920"/>
            <a:ext cx="603504" cy="603504"/>
          </a:xfrm>
          <a:prstGeom prst="ellipse">
            <a:avLst/>
          </a:prstGeom>
          <a:solidFill>
            <a:schemeClr val="accent1"/>
          </a:solidFill>
          <a:ln/>
        </p:spPr>
      </p:sp>
      <p:sp>
        <p:nvSpPr>
          <p:cNvPr id="30" name="Phase 6 n"/>
          <p:cNvSpPr txBox="1"/>
          <p:nvPr/>
        </p:nvSpPr>
        <p:spPr>
          <a:xfrm>
            <a:off x="10442448" y="164592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1" name="Phase 6 head"/>
          <p:cNvSpPr txBox="1"/>
          <p:nvPr/>
        </p:nvSpPr>
        <p:spPr>
          <a:xfrm>
            <a:off x="9966960" y="2377440"/>
            <a:ext cx="1554480" cy="685800"/>
          </a:xfrm>
          <a:prstGeom prst="rect">
            <a:avLst/>
          </a:prstGeom>
          <a:noFill/>
          <a:ln/>
        </p:spPr>
        <p:txBody>
          <a:bodyPr wrap="square" lIns="0" tIns="0" rIns="0" bIns="0" rtlCol="0" anchor="ctr"/>
          <a:lstStyle/>
          <a:p>
            <a:pPr algn="ctr" indent="0" marL="0">
              <a:buNone/>
            </a:pPr>
            <a:r>
              <a:rPr lang="en-US" sz="1600" b="1" dirty="0">
                <a:solidFill>
                  <a:schemeClr val="tx2"/>
                </a:solidFill>
              </a:rPr>
              <a:t>Prediction</a:t>
            </a:r>
            <a:endParaRPr lang="en-US" sz="1600" dirty="0"/>
          </a:p>
        </p:txBody>
      </p:sp>
      <p:sp>
        <p:nvSpPr>
          <p:cNvPr id="32" name="Phase 6 text"/>
          <p:cNvSpPr txBox="1"/>
          <p:nvPr/>
        </p:nvSpPr>
        <p:spPr>
          <a:xfrm>
            <a:off x="10003536" y="3108960"/>
            <a:ext cx="1481328" cy="1097280"/>
          </a:xfrm>
          <a:prstGeom prst="rect">
            <a:avLst/>
          </a:prstGeom>
          <a:noFill/>
          <a:ln/>
        </p:spPr>
        <p:txBody>
          <a:bodyPr wrap="square" lIns="0" tIns="0" rIns="0" bIns="0" rtlCol="0" anchor="t"/>
          <a:lstStyle/>
          <a:p>
            <a:pPr algn="ctr" indent="0" marL="0">
              <a:buNone/>
            </a:pPr>
            <a:r>
              <a:rPr lang="en-US" sz="1400" dirty="0">
                <a:solidFill>
                  <a:schemeClr val="tx1"/>
                </a:solidFill>
              </a:rPr>
              <a:t>Users draw or upload their own digit</a:t>
            </a:r>
            <a:endParaRPr lang="en-US" sz="1400" dirty="0"/>
          </a:p>
        </p:txBody>
      </p:sp>
      <p:sp>
        <p:nvSpPr>
          <p:cNvPr id="33" name="Tools circle"/>
          <p:cNvSpPr/>
          <p:nvPr/>
        </p:nvSpPr>
        <p:spPr>
          <a:xfrm>
            <a:off x="548640" y="4709160"/>
            <a:ext cx="685800" cy="685800"/>
          </a:xfrm>
          <a:prstGeom prst="ellipse">
            <a:avLst/>
          </a:prstGeom>
          <a:solidFill>
            <a:schemeClr val="accent1"/>
          </a:solidFill>
          <a:ln/>
        </p:spPr>
      </p:sp>
      <p:pic>
        <p:nvPicPr>
          <p:cNvPr id="34" name="Tools icon" descr="preencoded.png">    </p:cNvPr>
          <p:cNvPicPr>
            <a:picLocks noChangeAspect="1"/>
          </p:cNvPicPr>
          <p:nvPr/>
        </p:nvPicPr>
        <p:blipFill>
          <a:blip r:embed="rId1"/>
          <a:stretch>
            <a:fillRect/>
          </a:stretch>
        </p:blipFill>
        <p:spPr>
          <a:xfrm>
            <a:off x="713232" y="4873752"/>
            <a:ext cx="356616" cy="356616"/>
          </a:xfrm>
          <a:prstGeom prst="rect">
            <a:avLst/>
          </a:prstGeom>
        </p:spPr>
      </p:pic>
      <p:sp>
        <p:nvSpPr>
          <p:cNvPr id="35" name="Tools text"/>
          <p:cNvSpPr txBox="1"/>
          <p:nvPr/>
        </p:nvSpPr>
        <p:spPr>
          <a:xfrm>
            <a:off x="1463040" y="4709160"/>
            <a:ext cx="10149840" cy="685800"/>
          </a:xfrm>
          <a:prstGeom prst="rect">
            <a:avLst/>
          </a:prstGeom>
          <a:noFill/>
          <a:ln/>
        </p:spPr>
        <p:txBody>
          <a:bodyPr wrap="square" lIns="0" tIns="0" rIns="0" bIns="0" rtlCol="0" anchor="ctr"/>
          <a:lstStyle/>
          <a:p>
            <a:pPr indent="0" marL="0">
              <a:buNone/>
            </a:pPr>
            <a:r>
              <a:rPr lang="en-US" sz="1600" b="1" dirty="0">
                <a:solidFill>
                  <a:schemeClr val="tx2"/>
                </a:solidFill>
              </a:rPr>
              <a:t>Tools: </a:t>
            </a:r>
            <a:pPr indent="0" marL="0">
              <a:buNone/>
            </a:pPr>
            <a:r>
              <a:rPr lang="en-US" sz="1600" dirty="0">
                <a:solidFill>
                  <a:schemeClr val="tx1"/>
                </a:solidFill>
              </a:rPr>
              <a:t>Python · TensorFlow / Keras · NumPy · Pandas · Matplotlib · scikit-learn · Pillow · Google Colab / Jupyter · Git &amp; GitHub · HTML/JavaScript (browser demo)</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Data preprocessing</a:t>
            </a:r>
            <a:endParaRPr lang="en-US" sz="3200" dirty="0"/>
          </a:p>
        </p:txBody>
      </p:sp>
      <p:sp>
        <p:nvSpPr>
          <p:cNvPr id="3" name="Training seg"/>
          <p:cNvSpPr/>
          <p:nvPr/>
        </p:nvSpPr>
        <p:spPr>
          <a:xfrm>
            <a:off x="548640" y="1417320"/>
            <a:ext cx="8498695" cy="777240"/>
          </a:xfrm>
          <a:prstGeom prst="rect">
            <a:avLst/>
          </a:prstGeom>
          <a:solidFill>
            <a:schemeClr val="accent2"/>
          </a:solidFill>
          <a:ln/>
        </p:spPr>
      </p:sp>
      <p:sp>
        <p:nvSpPr>
          <p:cNvPr id="4" name="Training label"/>
          <p:cNvSpPr txBox="1"/>
          <p:nvPr/>
        </p:nvSpPr>
        <p:spPr>
          <a:xfrm>
            <a:off x="658368" y="1417320"/>
            <a:ext cx="8361535" cy="777240"/>
          </a:xfrm>
          <a:prstGeom prst="rect">
            <a:avLst/>
          </a:prstGeom>
          <a:noFill/>
          <a:ln/>
        </p:spPr>
        <p:txBody>
          <a:bodyPr wrap="square" lIns="0" tIns="0" rIns="0" bIns="0" rtlCol="0" anchor="ctr"/>
          <a:lstStyle/>
          <a:p>
            <a:pPr indent="0" marL="0">
              <a:buNone/>
            </a:pPr>
            <a:r>
              <a:rPr lang="en-US" sz="1500" b="1" dirty="0">
                <a:solidFill>
                  <a:schemeClr val="bg1"/>
                </a:solidFill>
              </a:rPr>
              <a:t>Training: 54,000</a:t>
            </a:r>
            <a:endParaRPr lang="en-US" sz="1500" dirty="0"/>
          </a:p>
        </p:txBody>
      </p:sp>
      <p:sp>
        <p:nvSpPr>
          <p:cNvPr id="5" name="Val seg"/>
          <p:cNvSpPr/>
          <p:nvPr/>
        </p:nvSpPr>
        <p:spPr>
          <a:xfrm>
            <a:off x="9083911" y="1417320"/>
            <a:ext cx="911787" cy="777240"/>
          </a:xfrm>
          <a:prstGeom prst="rect">
            <a:avLst/>
          </a:prstGeom>
          <a:solidFill>
            <a:schemeClr val="accent1"/>
          </a:solidFill>
          <a:ln/>
        </p:spPr>
      </p:sp>
      <p:sp>
        <p:nvSpPr>
          <p:cNvPr id="6" name="Val label"/>
          <p:cNvSpPr txBox="1"/>
          <p:nvPr/>
        </p:nvSpPr>
        <p:spPr>
          <a:xfrm>
            <a:off x="9193639" y="1417320"/>
            <a:ext cx="774627" cy="777240"/>
          </a:xfrm>
          <a:prstGeom prst="rect">
            <a:avLst/>
          </a:prstGeom>
          <a:noFill/>
          <a:ln/>
        </p:spPr>
        <p:txBody>
          <a:bodyPr wrap="square" lIns="0" tIns="0" rIns="0" bIns="0" rtlCol="0" anchor="ctr"/>
          <a:lstStyle/>
          <a:p>
            <a:pPr indent="0" marL="0">
              <a:buNone/>
            </a:pPr>
            <a:r>
              <a:rPr lang="en-US" sz="1500" b="1" dirty="0">
                <a:solidFill>
                  <a:schemeClr val="bg1"/>
                </a:solidFill>
              </a:rPr>
              <a:t>Val: 6,000</a:t>
            </a:r>
            <a:endParaRPr lang="en-US" sz="1500" dirty="0"/>
          </a:p>
        </p:txBody>
      </p:sp>
      <p:sp>
        <p:nvSpPr>
          <p:cNvPr id="7" name="Test seg"/>
          <p:cNvSpPr/>
          <p:nvPr/>
        </p:nvSpPr>
        <p:spPr>
          <a:xfrm>
            <a:off x="10032274" y="1417320"/>
            <a:ext cx="1580606" cy="777240"/>
          </a:xfrm>
          <a:prstGeom prst="rect">
            <a:avLst/>
          </a:prstGeom>
          <a:solidFill>
            <a:schemeClr val="accent3"/>
          </a:solidFill>
          <a:ln/>
        </p:spPr>
      </p:sp>
      <p:sp>
        <p:nvSpPr>
          <p:cNvPr id="8" name="Test label"/>
          <p:cNvSpPr txBox="1"/>
          <p:nvPr/>
        </p:nvSpPr>
        <p:spPr>
          <a:xfrm>
            <a:off x="10142002" y="1417320"/>
            <a:ext cx="1443446" cy="777240"/>
          </a:xfrm>
          <a:prstGeom prst="rect">
            <a:avLst/>
          </a:prstGeom>
          <a:noFill/>
          <a:ln/>
        </p:spPr>
        <p:txBody>
          <a:bodyPr wrap="square" lIns="0" tIns="0" rIns="0" bIns="0" rtlCol="0" anchor="ctr"/>
          <a:lstStyle/>
          <a:p>
            <a:pPr indent="0" marL="0">
              <a:buNone/>
            </a:pPr>
            <a:r>
              <a:rPr lang="en-US" sz="1500" b="1" dirty="0">
                <a:solidFill>
                  <a:schemeClr val="bg1"/>
                </a:solidFill>
              </a:rPr>
              <a:t>Test: 10,000</a:t>
            </a:r>
            <a:endParaRPr lang="en-US" sz="1500" dirty="0"/>
          </a:p>
        </p:txBody>
      </p:sp>
      <p:sp>
        <p:nvSpPr>
          <p:cNvPr id="9" name="Split note"/>
          <p:cNvSpPr txBox="1"/>
          <p:nvPr/>
        </p:nvSpPr>
        <p:spPr>
          <a:xfrm>
            <a:off x="548640" y="2286000"/>
            <a:ext cx="11064240" cy="365760"/>
          </a:xfrm>
          <a:prstGeom prst="rect">
            <a:avLst/>
          </a:prstGeom>
          <a:noFill/>
          <a:ln/>
        </p:spPr>
        <p:txBody>
          <a:bodyPr wrap="square" lIns="0" tIns="0" rIns="0" bIns="0" rtlCol="0" anchor="ctr"/>
          <a:lstStyle/>
          <a:p>
            <a:pPr indent="0" marL="0">
              <a:buNone/>
            </a:pPr>
            <a:r>
              <a:rPr lang="en-US" sz="1400" dirty="0">
                <a:solidFill>
                  <a:schemeClr val="accent5"/>
                </a:solidFill>
              </a:rPr>
              <a:t>Training images fit the weights  ·  validation images drive early stopping  ·  test images give the final score, once</a:t>
            </a:r>
            <a:endParaRPr lang="en-US" sz="1400" dirty="0"/>
          </a:p>
        </p:txBody>
      </p:sp>
      <p:sp>
        <p:nvSpPr>
          <p:cNvPr id="10" name="Prep 1"/>
          <p:cNvSpPr/>
          <p:nvPr/>
        </p:nvSpPr>
        <p:spPr>
          <a:xfrm>
            <a:off x="548640" y="2880360"/>
            <a:ext cx="3566160" cy="3108960"/>
          </a:xfrm>
          <a:prstGeom prst="roundRect">
            <a:avLst>
              <a:gd name="adj" fmla="val 3529"/>
            </a:avLst>
          </a:prstGeom>
          <a:solidFill>
            <a:schemeClr val="bg2"/>
          </a:solidFill>
          <a:ln/>
        </p:spPr>
      </p:sp>
      <p:sp>
        <p:nvSpPr>
          <p:cNvPr id="11" name="Prep 1 circle"/>
          <p:cNvSpPr/>
          <p:nvPr/>
        </p:nvSpPr>
        <p:spPr>
          <a:xfrm>
            <a:off x="777240" y="3063240"/>
            <a:ext cx="640080" cy="640080"/>
          </a:xfrm>
          <a:prstGeom prst="ellipse">
            <a:avLst/>
          </a:prstGeom>
          <a:solidFill>
            <a:schemeClr val="accent1"/>
          </a:solidFill>
          <a:ln/>
        </p:spPr>
      </p:sp>
      <p:pic>
        <p:nvPicPr>
          <p:cNvPr id="12" name="Prep 1 icon" descr="preencoded.png">    </p:cNvPr>
          <p:cNvPicPr>
            <a:picLocks noChangeAspect="1"/>
          </p:cNvPicPr>
          <p:nvPr/>
        </p:nvPicPr>
        <p:blipFill>
          <a:blip r:embed="rId1"/>
          <a:stretch>
            <a:fillRect/>
          </a:stretch>
        </p:blipFill>
        <p:spPr>
          <a:xfrm>
            <a:off x="930859" y="3216859"/>
            <a:ext cx="332842" cy="332842"/>
          </a:xfrm>
          <a:prstGeom prst="rect">
            <a:avLst/>
          </a:prstGeom>
        </p:spPr>
      </p:pic>
      <p:sp>
        <p:nvSpPr>
          <p:cNvPr id="13" name="Prep 1 head"/>
          <p:cNvSpPr txBox="1"/>
          <p:nvPr/>
        </p:nvSpPr>
        <p:spPr>
          <a:xfrm>
            <a:off x="1554480" y="3063240"/>
            <a:ext cx="2423160" cy="640080"/>
          </a:xfrm>
          <a:prstGeom prst="rect">
            <a:avLst/>
          </a:prstGeom>
          <a:noFill/>
          <a:ln/>
        </p:spPr>
        <p:txBody>
          <a:bodyPr wrap="square" lIns="0" tIns="0" rIns="0" bIns="0" rtlCol="0" anchor="ctr"/>
          <a:lstStyle/>
          <a:p>
            <a:pPr indent="0" marL="0">
              <a:buNone/>
            </a:pPr>
            <a:r>
              <a:rPr lang="en-US" sz="1700" b="1" dirty="0">
                <a:solidFill>
                  <a:schemeClr val="tx2"/>
                </a:solidFill>
              </a:rPr>
              <a:t>Normalisation</a:t>
            </a:r>
            <a:endParaRPr lang="en-US" sz="1700" dirty="0"/>
          </a:p>
        </p:txBody>
      </p:sp>
      <p:sp>
        <p:nvSpPr>
          <p:cNvPr id="14" name="Prep 1 text"/>
          <p:cNvSpPr txBox="1"/>
          <p:nvPr/>
        </p:nvSpPr>
        <p:spPr>
          <a:xfrm>
            <a:off x="777240" y="3840480"/>
            <a:ext cx="3154680" cy="2011680"/>
          </a:xfrm>
          <a:prstGeom prst="rect">
            <a:avLst/>
          </a:prstGeom>
          <a:noFill/>
          <a:ln/>
        </p:spPr>
        <p:txBody>
          <a:bodyPr wrap="square" lIns="0" tIns="0" rIns="0" bIns="0" rtlCol="0" anchor="t"/>
          <a:lstStyle/>
          <a:p>
            <a:pPr indent="0" marL="0">
              <a:buNone/>
            </a:pPr>
            <a:r>
              <a:rPr lang="en-US" sz="1500" dirty="0">
                <a:solidFill>
                  <a:schemeClr val="tx1"/>
                </a:solidFill>
              </a:rPr>
              <a:t>Pixel values 0–255 are divided by 255, giving 0–1. Small, similar-sized inputs make training faster and more stable.</a:t>
            </a:r>
            <a:endParaRPr lang="en-US" sz="1500" dirty="0"/>
          </a:p>
        </p:txBody>
      </p:sp>
      <p:sp>
        <p:nvSpPr>
          <p:cNvPr id="15" name="Prep 2"/>
          <p:cNvSpPr/>
          <p:nvPr/>
        </p:nvSpPr>
        <p:spPr>
          <a:xfrm>
            <a:off x="4297680" y="2880360"/>
            <a:ext cx="3566160" cy="3108960"/>
          </a:xfrm>
          <a:prstGeom prst="roundRect">
            <a:avLst>
              <a:gd name="adj" fmla="val 3529"/>
            </a:avLst>
          </a:prstGeom>
          <a:solidFill>
            <a:schemeClr val="bg2"/>
          </a:solidFill>
          <a:ln/>
        </p:spPr>
      </p:sp>
      <p:sp>
        <p:nvSpPr>
          <p:cNvPr id="16" name="Prep 2 circle"/>
          <p:cNvSpPr/>
          <p:nvPr/>
        </p:nvSpPr>
        <p:spPr>
          <a:xfrm>
            <a:off x="4526280" y="3063240"/>
            <a:ext cx="640080" cy="640080"/>
          </a:xfrm>
          <a:prstGeom prst="ellipse">
            <a:avLst/>
          </a:prstGeom>
          <a:solidFill>
            <a:schemeClr val="accent1"/>
          </a:solidFill>
          <a:ln/>
        </p:spPr>
      </p:sp>
      <p:pic>
        <p:nvPicPr>
          <p:cNvPr id="17" name="Prep 2 icon" descr="preencoded.png">    </p:cNvPr>
          <p:cNvPicPr>
            <a:picLocks noChangeAspect="1"/>
          </p:cNvPicPr>
          <p:nvPr/>
        </p:nvPicPr>
        <p:blipFill>
          <a:blip r:embed="rId2"/>
          <a:stretch>
            <a:fillRect/>
          </a:stretch>
        </p:blipFill>
        <p:spPr>
          <a:xfrm>
            <a:off x="4679899" y="3216859"/>
            <a:ext cx="332842" cy="332842"/>
          </a:xfrm>
          <a:prstGeom prst="rect">
            <a:avLst/>
          </a:prstGeom>
        </p:spPr>
      </p:pic>
      <p:sp>
        <p:nvSpPr>
          <p:cNvPr id="18" name="Prep 2 head"/>
          <p:cNvSpPr txBox="1"/>
          <p:nvPr/>
        </p:nvSpPr>
        <p:spPr>
          <a:xfrm>
            <a:off x="5303520" y="3063240"/>
            <a:ext cx="2423160" cy="640080"/>
          </a:xfrm>
          <a:prstGeom prst="rect">
            <a:avLst/>
          </a:prstGeom>
          <a:noFill/>
          <a:ln/>
        </p:spPr>
        <p:txBody>
          <a:bodyPr wrap="square" lIns="0" tIns="0" rIns="0" bIns="0" rtlCol="0" anchor="ctr"/>
          <a:lstStyle/>
          <a:p>
            <a:pPr indent="0" marL="0">
              <a:buNone/>
            </a:pPr>
            <a:r>
              <a:rPr lang="en-US" sz="1700" b="1" dirty="0">
                <a:solidFill>
                  <a:schemeClr val="tx2"/>
                </a:solidFill>
              </a:rPr>
              <a:t>Validation split</a:t>
            </a:r>
            <a:endParaRPr lang="en-US" sz="1700" dirty="0"/>
          </a:p>
        </p:txBody>
      </p:sp>
      <p:sp>
        <p:nvSpPr>
          <p:cNvPr id="19" name="Prep 2 text"/>
          <p:cNvSpPr txBox="1"/>
          <p:nvPr/>
        </p:nvSpPr>
        <p:spPr>
          <a:xfrm>
            <a:off x="4526280" y="3840480"/>
            <a:ext cx="3154680" cy="2011680"/>
          </a:xfrm>
          <a:prstGeom prst="rect">
            <a:avLst/>
          </a:prstGeom>
          <a:noFill/>
          <a:ln/>
        </p:spPr>
        <p:txBody>
          <a:bodyPr wrap="square" lIns="0" tIns="0" rIns="0" bIns="0" rtlCol="0" anchor="t"/>
          <a:lstStyle/>
          <a:p>
            <a:pPr indent="0" marL="0">
              <a:buNone/>
            </a:pPr>
            <a:r>
              <a:rPr lang="en-US" sz="1500" dirty="0">
                <a:solidFill>
                  <a:schemeClr val="tx1"/>
                </a:solidFill>
              </a:rPr>
              <a:t>6,000 training images (stratified) are held out for early stopping. The starter guide validated on the test set; keeping them separate makes the test score fair.</a:t>
            </a:r>
            <a:endParaRPr lang="en-US" sz="1500" dirty="0"/>
          </a:p>
        </p:txBody>
      </p:sp>
      <p:sp>
        <p:nvSpPr>
          <p:cNvPr id="20" name="Prep 3"/>
          <p:cNvSpPr/>
          <p:nvPr/>
        </p:nvSpPr>
        <p:spPr>
          <a:xfrm>
            <a:off x="8046720" y="2880360"/>
            <a:ext cx="3566160" cy="3108960"/>
          </a:xfrm>
          <a:prstGeom prst="roundRect">
            <a:avLst>
              <a:gd name="adj" fmla="val 3529"/>
            </a:avLst>
          </a:prstGeom>
          <a:solidFill>
            <a:schemeClr val="bg2"/>
          </a:solidFill>
          <a:ln/>
        </p:spPr>
      </p:sp>
      <p:sp>
        <p:nvSpPr>
          <p:cNvPr id="21" name="Prep 3 circle"/>
          <p:cNvSpPr/>
          <p:nvPr/>
        </p:nvSpPr>
        <p:spPr>
          <a:xfrm>
            <a:off x="8275320" y="3063240"/>
            <a:ext cx="640080" cy="640080"/>
          </a:xfrm>
          <a:prstGeom prst="ellipse">
            <a:avLst/>
          </a:prstGeom>
          <a:solidFill>
            <a:schemeClr val="accent1"/>
          </a:solidFill>
          <a:ln/>
        </p:spPr>
      </p:sp>
      <p:pic>
        <p:nvPicPr>
          <p:cNvPr id="22" name="Prep 3 icon" descr="preencoded.png">    </p:cNvPr>
          <p:cNvPicPr>
            <a:picLocks noChangeAspect="1"/>
          </p:cNvPicPr>
          <p:nvPr/>
        </p:nvPicPr>
        <p:blipFill>
          <a:blip r:embed="rId3"/>
          <a:stretch>
            <a:fillRect/>
          </a:stretch>
        </p:blipFill>
        <p:spPr>
          <a:xfrm>
            <a:off x="8428939" y="3216859"/>
            <a:ext cx="332842" cy="332842"/>
          </a:xfrm>
          <a:prstGeom prst="rect">
            <a:avLst/>
          </a:prstGeom>
        </p:spPr>
      </p:pic>
      <p:sp>
        <p:nvSpPr>
          <p:cNvPr id="23" name="Prep 3 head"/>
          <p:cNvSpPr txBox="1"/>
          <p:nvPr/>
        </p:nvSpPr>
        <p:spPr>
          <a:xfrm>
            <a:off x="9052560" y="3063240"/>
            <a:ext cx="2423160" cy="640080"/>
          </a:xfrm>
          <a:prstGeom prst="rect">
            <a:avLst/>
          </a:prstGeom>
          <a:noFill/>
          <a:ln/>
        </p:spPr>
        <p:txBody>
          <a:bodyPr wrap="square" lIns="0" tIns="0" rIns="0" bIns="0" rtlCol="0" anchor="ctr"/>
          <a:lstStyle/>
          <a:p>
            <a:pPr indent="0" marL="0">
              <a:buNone/>
            </a:pPr>
            <a:r>
              <a:rPr lang="en-US" sz="1700" b="1" dirty="0">
                <a:solidFill>
                  <a:schemeClr val="tx2"/>
                </a:solidFill>
              </a:rPr>
              <a:t>Reshape &amp; labels</a:t>
            </a:r>
            <a:endParaRPr lang="en-US" sz="1700" dirty="0"/>
          </a:p>
        </p:txBody>
      </p:sp>
      <p:sp>
        <p:nvSpPr>
          <p:cNvPr id="24" name="Prep 3 text"/>
          <p:cNvSpPr txBox="1"/>
          <p:nvPr/>
        </p:nvSpPr>
        <p:spPr>
          <a:xfrm>
            <a:off x="8275320" y="3840480"/>
            <a:ext cx="3154680" cy="2011680"/>
          </a:xfrm>
          <a:prstGeom prst="rect">
            <a:avLst/>
          </a:prstGeom>
          <a:noFill/>
          <a:ln/>
        </p:spPr>
        <p:txBody>
          <a:bodyPr wrap="square" lIns="0" tIns="0" rIns="0" bIns="0" rtlCol="0" anchor="t"/>
          <a:lstStyle/>
          <a:p>
            <a:pPr indent="0" marL="0">
              <a:buNone/>
            </a:pPr>
            <a:r>
              <a:rPr lang="en-US" sz="1500" dirty="0">
                <a:solidFill>
                  <a:schemeClr val="tx1"/>
                </a:solidFill>
              </a:rPr>
              <a:t>Dense network: each 28×28 image is flattened to 784 values. CNN: 28×28 → 28×28×1 (one channel). Labels stay as integers 0–9.</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Model 1: dense neural network</a:t>
            </a:r>
            <a:endParaRPr lang="en-US" sz="3200" dirty="0"/>
          </a:p>
        </p:txBody>
      </p:sp>
      <p:pic>
        <p:nvPicPr>
          <p:cNvPr id="3" name="MLP architecture" descr="/home/claude/project2/mnist-digit-classification-nn/results/figures/14_architecture_mlp.png">    </p:cNvPr>
          <p:cNvPicPr>
            <a:picLocks noChangeAspect="1"/>
          </p:cNvPicPr>
          <p:nvPr/>
        </p:nvPicPr>
        <p:blipFill>
          <a:blip r:embed="rId1"/>
          <a:stretch>
            <a:fillRect/>
          </a:stretch>
        </p:blipFill>
        <p:spPr>
          <a:xfrm>
            <a:off x="2271790" y="1188720"/>
            <a:ext cx="7617941" cy="2194560"/>
          </a:xfrm>
          <a:prstGeom prst="rect">
            <a:avLst/>
          </a:prstGeom>
        </p:spPr>
      </p:pic>
      <p:graphicFrame>
        <p:nvGraphicFramePr>
          <p:cNvPr id="9" name="MLP table"/>
          <p:cNvGraphicFramePr>
            <a:graphicFrameLocks noGrp="1"/>
          </p:cNvGraphicFramePr>
          <p:nvPr>
            <p:extLst>
              <p:ext uri="{D42A27DB-BD31-4B8C-83A1-F6EECF244321}">
                <p14:modId xmlns:p14="http://schemas.microsoft.com/office/powerpoint/2010/main" val="1579011935"/>
              </p:ext>
            </p:extLst>
          </p:nvPr>
        </p:nvGraphicFramePr>
        <p:xfrm>
          <a:off x="548640" y="3611880"/>
          <a:ext cx="6217920" cy="914400"/>
        </p:xfrm>
        <a:graphic>
          <a:graphicData uri="http://schemas.openxmlformats.org/drawingml/2006/table">
            <a:tbl>
              <a:tblPr/>
              <a:tblGrid>
                <a:gridCol w="2011680"/>
                <a:gridCol w="1097280"/>
                <a:gridCol w="3108960"/>
              </a:tblGrid>
              <a:tr h="34747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C274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C274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Parameters</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C2742"/>
                    </a:solidFill>
                  </a:tcPr>
                </a:tc>
              </a:tr>
              <a:tr h="347472">
                <a:tc>
                  <a:txBody>
                    <a:bodyPr/>
                    <a:lstStyle/>
                    <a:p>
                      <a:pPr algn="l" indent="0" marL="0">
                        <a:buNone/>
                      </a:pPr>
                      <a:r>
                        <a:rPr lang="en-US" sz="1300" dirty="0">
                          <a:solidFill>
                            <a:srgbClr val="15192A"/>
                          </a:solidFill>
                          <a:latin typeface="Calibri" pitchFamily="34" charset="0"/>
                          <a:ea typeface="Calibri" pitchFamily="34" charset="-122"/>
                          <a:cs typeface="Calibri" pitchFamily="34" charset="-120"/>
                        </a:rPr>
                        <a:t>Flatten</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300" dirty="0">
                          <a:solidFill>
                            <a:srgbClr val="15192A"/>
                          </a:solidFill>
                          <a:latin typeface="Calibri" pitchFamily="34" charset="0"/>
                          <a:ea typeface="Calibri" pitchFamily="34" charset="-122"/>
                          <a:cs typeface="Calibri" pitchFamily="34" charset="-120"/>
                        </a:rPr>
                        <a:t>784</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300" dirty="0">
                          <a:solidFill>
                            <a:srgbClr val="15192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347472">
                <a:tc>
                  <a:txBody>
                    <a:bodyPr/>
                    <a:lstStyle/>
                    <a:p>
                      <a:pPr algn="l" indent="0" marL="0">
                        <a:buNone/>
                      </a:pPr>
                      <a:r>
                        <a:rPr lang="en-US" sz="1300" dirty="0">
                          <a:solidFill>
                            <a:srgbClr val="15192A"/>
                          </a:solidFill>
                          <a:latin typeface="Calibri" pitchFamily="34" charset="0"/>
                          <a:ea typeface="Calibri" pitchFamily="34" charset="-122"/>
                          <a:cs typeface="Calibri" pitchFamily="34" charset="-120"/>
                        </a:rPr>
                        <a:t>Dense, ReLU</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300" dirty="0">
                          <a:solidFill>
                            <a:srgbClr val="15192A"/>
                          </a:solidFill>
                          <a:latin typeface="Calibri" pitchFamily="34" charset="0"/>
                          <a:ea typeface="Calibri" pitchFamily="34" charset="-122"/>
                          <a:cs typeface="Calibri" pitchFamily="34" charset="-120"/>
                        </a:rPr>
                        <a:t>128</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300" dirty="0">
                          <a:solidFill>
                            <a:srgbClr val="15192A"/>
                          </a:solidFill>
                          <a:latin typeface="Calibri" pitchFamily="34" charset="0"/>
                          <a:ea typeface="Calibri" pitchFamily="34" charset="-122"/>
                          <a:cs typeface="Calibri" pitchFamily="34" charset="-120"/>
                        </a:rPr>
                        <a:t>784×128 + 128 = 100,480</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347472">
                <a:tc>
                  <a:txBody>
                    <a:bodyPr/>
                    <a:lstStyle/>
                    <a:p>
                      <a:pPr algn="l" indent="0" marL="0">
                        <a:buNone/>
                      </a:pPr>
                      <a:r>
                        <a:rPr lang="en-US" sz="1300" dirty="0">
                          <a:solidFill>
                            <a:srgbClr val="15192A"/>
                          </a:solidFill>
                          <a:latin typeface="Calibri" pitchFamily="34" charset="0"/>
                          <a:ea typeface="Calibri" pitchFamily="34" charset="-122"/>
                          <a:cs typeface="Calibri" pitchFamily="34" charset="-120"/>
                        </a:rPr>
                        <a:t>Dropout 20%</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300" dirty="0">
                          <a:solidFill>
                            <a:srgbClr val="15192A"/>
                          </a:solidFill>
                          <a:latin typeface="Calibri" pitchFamily="34" charset="0"/>
                          <a:ea typeface="Calibri" pitchFamily="34" charset="-122"/>
                          <a:cs typeface="Calibri" pitchFamily="34" charset="-120"/>
                        </a:rPr>
                        <a:t>128</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300" dirty="0">
                          <a:solidFill>
                            <a:srgbClr val="15192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347472">
                <a:tc>
                  <a:txBody>
                    <a:bodyPr/>
                    <a:lstStyle/>
                    <a:p>
                      <a:pPr algn="l" indent="0" marL="0">
                        <a:buNone/>
                      </a:pPr>
                      <a:r>
                        <a:rPr lang="en-US" sz="1300" dirty="0">
                          <a:solidFill>
                            <a:srgbClr val="15192A"/>
                          </a:solidFill>
                          <a:latin typeface="Calibri" pitchFamily="34" charset="0"/>
                          <a:ea typeface="Calibri" pitchFamily="34" charset="-122"/>
                          <a:cs typeface="Calibri" pitchFamily="34" charset="-120"/>
                        </a:rPr>
                        <a:t>Dense, ReLU</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300" dirty="0">
                          <a:solidFill>
                            <a:srgbClr val="15192A"/>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300" dirty="0">
                          <a:solidFill>
                            <a:srgbClr val="15192A"/>
                          </a:solidFill>
                          <a:latin typeface="Calibri" pitchFamily="34" charset="0"/>
                          <a:ea typeface="Calibri" pitchFamily="34" charset="-122"/>
                          <a:cs typeface="Calibri" pitchFamily="34" charset="-120"/>
                        </a:rPr>
                        <a:t>128×64 + 64 = 8,256</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347472">
                <a:tc>
                  <a:txBody>
                    <a:bodyPr/>
                    <a:lstStyle/>
                    <a:p>
                      <a:pPr algn="l" indent="0" marL="0">
                        <a:buNone/>
                      </a:pPr>
                      <a:r>
                        <a:rPr lang="en-US" sz="1300" dirty="0">
                          <a:solidFill>
                            <a:srgbClr val="15192A"/>
                          </a:solidFill>
                          <a:latin typeface="Calibri" pitchFamily="34" charset="0"/>
                          <a:ea typeface="Calibri" pitchFamily="34" charset="-122"/>
                          <a:cs typeface="Calibri" pitchFamily="34" charset="-120"/>
                        </a:rPr>
                        <a:t>Dense, Softmax</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300" dirty="0">
                          <a:solidFill>
                            <a:srgbClr val="15192A"/>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300" dirty="0">
                          <a:solidFill>
                            <a:srgbClr val="15192A"/>
                          </a:solidFill>
                          <a:latin typeface="Calibri" pitchFamily="34" charset="0"/>
                          <a:ea typeface="Calibri" pitchFamily="34" charset="-122"/>
                          <a:cs typeface="Calibri" pitchFamily="34" charset="-120"/>
                        </a:rPr>
                        <a:t>64×10 + 10 = 650</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347472">
                <a:tc>
                  <a:txBody>
                    <a:bodyPr/>
                    <a:lstStyle/>
                    <a:p>
                      <a:pPr algn="l" indent="0" marL="0">
                        <a:buNone/>
                      </a:pPr>
                      <a:r>
                        <a:rPr lang="en-US" sz="1300" b="1" dirty="0">
                          <a:solidFill>
                            <a:srgbClr val="15192A"/>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300" b="1" dirty="0">
                          <a:solidFill>
                            <a:srgbClr val="15192A"/>
                          </a:solidFill>
                          <a:latin typeface="Calibri" pitchFamily="34" charset="0"/>
                          <a:ea typeface="Calibri" pitchFamily="34" charset="-122"/>
                          <a:cs typeface="Calibri" pitchFamily="34" charset="-120"/>
                        </a:rPr>
                        <a:t>109,386</a:t>
                      </a:r>
                      <a:endParaRPr lang="en-US" sz="13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bl>
          </a:graphicData>
        </a:graphic>
      </p:graphicFrame>
      <p:sp>
        <p:nvSpPr>
          <p:cNvPr id="5" name="MLP why"/>
          <p:cNvSpPr/>
          <p:nvPr/>
        </p:nvSpPr>
        <p:spPr>
          <a:xfrm>
            <a:off x="7132320" y="3611880"/>
            <a:ext cx="4480560" cy="2468880"/>
          </a:xfrm>
          <a:prstGeom prst="roundRect">
            <a:avLst>
              <a:gd name="adj" fmla="val 4444"/>
            </a:avLst>
          </a:prstGeom>
          <a:solidFill>
            <a:schemeClr val="accent6"/>
          </a:solidFill>
          <a:ln/>
        </p:spPr>
      </p:sp>
      <p:sp>
        <p:nvSpPr>
          <p:cNvPr id="6" name="MLP why text"/>
          <p:cNvSpPr txBox="1"/>
          <p:nvPr/>
        </p:nvSpPr>
        <p:spPr>
          <a:xfrm>
            <a:off x="7360920" y="3749040"/>
            <a:ext cx="4069080" cy="224028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Design choices</a:t>
            </a:r>
            <a:endParaRPr lang="en-US" sz="1400" dirty="0"/>
          </a:p>
          <a:p>
            <a:pPr marL="342900" indent="-342900">
              <a:spcAft>
                <a:spcPts val="400"/>
              </a:spcAft>
              <a:buSzPct val="100000"/>
              <a:buChar char="•"/>
            </a:pPr>
            <a:r>
              <a:rPr lang="en-US" sz="1400" dirty="0">
                <a:solidFill>
                  <a:schemeClr val="tx1"/>
                </a:solidFill>
              </a:rPr>
              <a:t>ReLU lets the network learn non-linear patterns</a:t>
            </a:r>
            <a:endParaRPr lang="en-US" sz="1400" dirty="0"/>
          </a:p>
          <a:p>
            <a:pPr marL="342900" indent="-342900">
              <a:spcAft>
                <a:spcPts val="400"/>
              </a:spcAft>
              <a:buSzPct val="100000"/>
              <a:buChar char="•"/>
            </a:pPr>
            <a:r>
              <a:rPr lang="en-US" sz="1400" dirty="0">
                <a:solidFill>
                  <a:schemeClr val="tx1"/>
                </a:solidFill>
              </a:rPr>
              <a:t>Dropout reduces over-fitting</a:t>
            </a:r>
            <a:endParaRPr lang="en-US" sz="1400" dirty="0"/>
          </a:p>
          <a:p>
            <a:pPr marL="342900" indent="-342900">
              <a:spcAft>
                <a:spcPts val="400"/>
              </a:spcAft>
              <a:buSzPct val="100000"/>
              <a:buChar char="•"/>
            </a:pPr>
            <a:r>
              <a:rPr lang="en-US" sz="1400" dirty="0">
                <a:solidFill>
                  <a:schemeClr val="tx1"/>
                </a:solidFill>
              </a:rPr>
              <a:t>Softmax gives 10 probabilities that sum to 1 (replaces the starter's sigmoid)</a:t>
            </a:r>
            <a:endParaRPr lang="en-US" sz="1400" dirty="0"/>
          </a:p>
          <a:p>
            <a:pPr marL="342900" indent="-342900">
              <a:spcAft>
                <a:spcPts val="400"/>
              </a:spcAft>
              <a:buSzPct val="100000"/>
              <a:buChar char="•"/>
            </a:pPr>
            <a:r>
              <a:rPr lang="en-US" sz="1400" dirty="0">
                <a:solidFill>
                  <a:schemeClr val="tx1"/>
                </a:solidFill>
              </a:rPr>
              <a:t>Adam optimiser, sparse categorical cross-entropy loss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Model 2: convolutional neural network</a:t>
            </a:r>
            <a:endParaRPr lang="en-US" sz="3200" dirty="0"/>
          </a:p>
        </p:txBody>
      </p:sp>
      <p:pic>
        <p:nvPicPr>
          <p:cNvPr id="3" name="CNN architecture" descr="/home/claude/project2/mnist-digit-classification-nn/results/figures/15_architecture_cnn.png">    </p:cNvPr>
          <p:cNvPicPr>
            <a:picLocks noChangeAspect="1"/>
          </p:cNvPicPr>
          <p:nvPr/>
        </p:nvPicPr>
        <p:blipFill>
          <a:blip r:embed="rId1"/>
          <a:stretch>
            <a:fillRect/>
          </a:stretch>
        </p:blipFill>
        <p:spPr>
          <a:xfrm>
            <a:off x="2430497" y="1188720"/>
            <a:ext cx="7300526" cy="2103120"/>
          </a:xfrm>
          <a:prstGeom prst="rect">
            <a:avLst/>
          </a:prstGeom>
        </p:spPr>
      </p:pic>
      <p:sp>
        <p:nvSpPr>
          <p:cNvPr id="4" name="Idea 1"/>
          <p:cNvSpPr/>
          <p:nvPr/>
        </p:nvSpPr>
        <p:spPr>
          <a:xfrm>
            <a:off x="548640" y="3520440"/>
            <a:ext cx="3566160" cy="2514600"/>
          </a:xfrm>
          <a:prstGeom prst="roundRect">
            <a:avLst>
              <a:gd name="adj" fmla="val 4364"/>
            </a:avLst>
          </a:prstGeom>
          <a:solidFill>
            <a:schemeClr val="bg2"/>
          </a:solidFill>
          <a:ln/>
        </p:spPr>
      </p:sp>
      <p:sp>
        <p:nvSpPr>
          <p:cNvPr id="5" name="Idea 1 circle"/>
          <p:cNvSpPr/>
          <p:nvPr/>
        </p:nvSpPr>
        <p:spPr>
          <a:xfrm>
            <a:off x="777240" y="3703320"/>
            <a:ext cx="594360" cy="594360"/>
          </a:xfrm>
          <a:prstGeom prst="ellipse">
            <a:avLst/>
          </a:prstGeom>
          <a:solidFill>
            <a:schemeClr val="accent1"/>
          </a:solidFill>
          <a:ln/>
        </p:spPr>
      </p:sp>
      <p:pic>
        <p:nvPicPr>
          <p:cNvPr id="6" name="Idea 1 icon" descr="preencoded.png">    </p:cNvPr>
          <p:cNvPicPr>
            <a:picLocks noChangeAspect="1"/>
          </p:cNvPicPr>
          <p:nvPr/>
        </p:nvPicPr>
        <p:blipFill>
          <a:blip r:embed="rId2"/>
          <a:stretch>
            <a:fillRect/>
          </a:stretch>
        </p:blipFill>
        <p:spPr>
          <a:xfrm>
            <a:off x="919886" y="3845966"/>
            <a:ext cx="309067" cy="309067"/>
          </a:xfrm>
          <a:prstGeom prst="rect">
            <a:avLst/>
          </a:prstGeom>
        </p:spPr>
      </p:pic>
      <p:sp>
        <p:nvSpPr>
          <p:cNvPr id="7" name="Idea 1 head"/>
          <p:cNvSpPr txBox="1"/>
          <p:nvPr/>
        </p:nvSpPr>
        <p:spPr>
          <a:xfrm>
            <a:off x="1508760" y="370332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Convolution</a:t>
            </a:r>
            <a:endParaRPr lang="en-US" sz="1700" dirty="0"/>
          </a:p>
        </p:txBody>
      </p:sp>
      <p:sp>
        <p:nvSpPr>
          <p:cNvPr id="8" name="Idea 1 text"/>
          <p:cNvSpPr txBox="1"/>
          <p:nvPr/>
        </p:nvSpPr>
        <p:spPr>
          <a:xfrm>
            <a:off x="777240" y="4434840"/>
            <a:ext cx="3154680" cy="1508760"/>
          </a:xfrm>
          <a:prstGeom prst="rect">
            <a:avLst/>
          </a:prstGeom>
          <a:noFill/>
          <a:ln/>
        </p:spPr>
        <p:txBody>
          <a:bodyPr wrap="square" lIns="0" tIns="0" rIns="0" bIns="0" rtlCol="0" anchor="t"/>
          <a:lstStyle/>
          <a:p>
            <a:pPr indent="0" marL="0">
              <a:buNone/>
            </a:pPr>
            <a:r>
              <a:rPr lang="en-US" sz="1600" dirty="0">
                <a:solidFill>
                  <a:schemeClr val="tx1"/>
                </a:solidFill>
              </a:rPr>
              <a:t>A 3×3 filter slides over the image and lights up where it finds its pattern: an edge, a curve, a loop end.</a:t>
            </a:r>
            <a:endParaRPr lang="en-US" sz="1600" dirty="0"/>
          </a:p>
        </p:txBody>
      </p:sp>
      <p:sp>
        <p:nvSpPr>
          <p:cNvPr id="9" name="Idea 2"/>
          <p:cNvSpPr/>
          <p:nvPr/>
        </p:nvSpPr>
        <p:spPr>
          <a:xfrm>
            <a:off x="4297680" y="3520440"/>
            <a:ext cx="3566160" cy="2514600"/>
          </a:xfrm>
          <a:prstGeom prst="roundRect">
            <a:avLst>
              <a:gd name="adj" fmla="val 4364"/>
            </a:avLst>
          </a:prstGeom>
          <a:solidFill>
            <a:schemeClr val="bg2"/>
          </a:solidFill>
          <a:ln/>
        </p:spPr>
      </p:sp>
      <p:sp>
        <p:nvSpPr>
          <p:cNvPr id="10" name="Idea 2 circle"/>
          <p:cNvSpPr/>
          <p:nvPr/>
        </p:nvSpPr>
        <p:spPr>
          <a:xfrm>
            <a:off x="4526280" y="3703320"/>
            <a:ext cx="594360" cy="594360"/>
          </a:xfrm>
          <a:prstGeom prst="ellipse">
            <a:avLst/>
          </a:prstGeom>
          <a:solidFill>
            <a:schemeClr val="accent1"/>
          </a:solidFill>
          <a:ln/>
        </p:spPr>
      </p:sp>
      <p:pic>
        <p:nvPicPr>
          <p:cNvPr id="11" name="Idea 2 icon" descr="preencoded.png">    </p:cNvPr>
          <p:cNvPicPr>
            <a:picLocks noChangeAspect="1"/>
          </p:cNvPicPr>
          <p:nvPr/>
        </p:nvPicPr>
        <p:blipFill>
          <a:blip r:embed="rId3"/>
          <a:stretch>
            <a:fillRect/>
          </a:stretch>
        </p:blipFill>
        <p:spPr>
          <a:xfrm>
            <a:off x="4668926" y="3845966"/>
            <a:ext cx="309067" cy="309067"/>
          </a:xfrm>
          <a:prstGeom prst="rect">
            <a:avLst/>
          </a:prstGeom>
        </p:spPr>
      </p:pic>
      <p:sp>
        <p:nvSpPr>
          <p:cNvPr id="12" name="Idea 2 head"/>
          <p:cNvSpPr txBox="1"/>
          <p:nvPr/>
        </p:nvSpPr>
        <p:spPr>
          <a:xfrm>
            <a:off x="5257800" y="370332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Max pooling</a:t>
            </a:r>
            <a:endParaRPr lang="en-US" sz="1700" dirty="0"/>
          </a:p>
        </p:txBody>
      </p:sp>
      <p:sp>
        <p:nvSpPr>
          <p:cNvPr id="13" name="Idea 2 text"/>
          <p:cNvSpPr txBox="1"/>
          <p:nvPr/>
        </p:nvSpPr>
        <p:spPr>
          <a:xfrm>
            <a:off x="4526280" y="4434840"/>
            <a:ext cx="3154680" cy="1508760"/>
          </a:xfrm>
          <a:prstGeom prst="rect">
            <a:avLst/>
          </a:prstGeom>
          <a:noFill/>
          <a:ln/>
        </p:spPr>
        <p:txBody>
          <a:bodyPr wrap="square" lIns="0" tIns="0" rIns="0" bIns="0" rtlCol="0" anchor="t"/>
          <a:lstStyle/>
          <a:p>
            <a:pPr indent="0" marL="0">
              <a:buNone/>
            </a:pPr>
            <a:r>
              <a:rPr lang="en-US" sz="1600" dirty="0">
                <a:solidFill>
                  <a:schemeClr val="tx1"/>
                </a:solidFill>
              </a:rPr>
              <a:t>Keeps the strongest signal in each 2×2 block, halving the size and tolerating small shifts.</a:t>
            </a:r>
            <a:endParaRPr lang="en-US" sz="1600" dirty="0"/>
          </a:p>
        </p:txBody>
      </p:sp>
      <p:sp>
        <p:nvSpPr>
          <p:cNvPr id="14" name="Idea 3"/>
          <p:cNvSpPr/>
          <p:nvPr/>
        </p:nvSpPr>
        <p:spPr>
          <a:xfrm>
            <a:off x="8046720" y="3520440"/>
            <a:ext cx="3566160" cy="2514600"/>
          </a:xfrm>
          <a:prstGeom prst="roundRect">
            <a:avLst>
              <a:gd name="adj" fmla="val 4364"/>
            </a:avLst>
          </a:prstGeom>
          <a:solidFill>
            <a:schemeClr val="bg2"/>
          </a:solidFill>
          <a:ln/>
        </p:spPr>
      </p:sp>
      <p:sp>
        <p:nvSpPr>
          <p:cNvPr id="15" name="Idea 3 circle"/>
          <p:cNvSpPr/>
          <p:nvPr/>
        </p:nvSpPr>
        <p:spPr>
          <a:xfrm>
            <a:off x="8275320" y="3703320"/>
            <a:ext cx="594360" cy="594360"/>
          </a:xfrm>
          <a:prstGeom prst="ellipse">
            <a:avLst/>
          </a:prstGeom>
          <a:solidFill>
            <a:schemeClr val="accent1"/>
          </a:solidFill>
          <a:ln/>
        </p:spPr>
      </p:sp>
      <p:pic>
        <p:nvPicPr>
          <p:cNvPr id="16" name="Idea 3 icon" descr="preencoded.png">    </p:cNvPr>
          <p:cNvPicPr>
            <a:picLocks noChangeAspect="1"/>
          </p:cNvPicPr>
          <p:nvPr/>
        </p:nvPicPr>
        <p:blipFill>
          <a:blip r:embed="rId4"/>
          <a:stretch>
            <a:fillRect/>
          </a:stretch>
        </p:blipFill>
        <p:spPr>
          <a:xfrm>
            <a:off x="8417966" y="3845966"/>
            <a:ext cx="309067" cy="309067"/>
          </a:xfrm>
          <a:prstGeom prst="rect">
            <a:avLst/>
          </a:prstGeom>
        </p:spPr>
      </p:pic>
      <p:sp>
        <p:nvSpPr>
          <p:cNvPr id="17" name="Idea 3 head"/>
          <p:cNvSpPr txBox="1"/>
          <p:nvPr/>
        </p:nvSpPr>
        <p:spPr>
          <a:xfrm>
            <a:off x="9006840" y="370332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Weight sharing</a:t>
            </a:r>
            <a:endParaRPr lang="en-US" sz="1700" dirty="0"/>
          </a:p>
        </p:txBody>
      </p:sp>
      <p:sp>
        <p:nvSpPr>
          <p:cNvPr id="18" name="Idea 3 text"/>
          <p:cNvSpPr txBox="1"/>
          <p:nvPr/>
        </p:nvSpPr>
        <p:spPr>
          <a:xfrm>
            <a:off x="8275320" y="4434840"/>
            <a:ext cx="3154680" cy="1508760"/>
          </a:xfrm>
          <a:prstGeom prst="rect">
            <a:avLst/>
          </a:prstGeom>
          <a:noFill/>
          <a:ln/>
        </p:spPr>
        <p:txBody>
          <a:bodyPr wrap="square" lIns="0" tIns="0" rIns="0" bIns="0" rtlCol="0" anchor="t"/>
          <a:lstStyle/>
          <a:p>
            <a:pPr indent="0" marL="0">
              <a:buNone/>
            </a:pPr>
            <a:r>
              <a:rPr lang="en-US" sz="1600" dirty="0">
                <a:solidFill>
                  <a:schemeClr val="tx1"/>
                </a:solidFill>
              </a:rPr>
              <a:t>The same filter is reused everywhere, so the CNN needs only 34,826 parameters, 3× fewer than the dense network.</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Implementation: training the models</a:t>
            </a:r>
            <a:endParaRPr lang="en-US" sz="3200" dirty="0"/>
          </a:p>
        </p:txBody>
      </p:sp>
      <p:pic>
        <p:nvPicPr>
          <p:cNvPr id="3" name="Training curves" descr="/home/claude/project2/mnist-digit-classification-nn/results/figures/05_training_history.png">    </p:cNvPr>
          <p:cNvPicPr>
            <a:picLocks noChangeAspect="1"/>
          </p:cNvPicPr>
          <p:nvPr/>
        </p:nvPicPr>
        <p:blipFill>
          <a:blip r:embed="rId1"/>
          <a:stretch>
            <a:fillRect/>
          </a:stretch>
        </p:blipFill>
        <p:spPr>
          <a:xfrm>
            <a:off x="457200" y="1261976"/>
            <a:ext cx="7406640" cy="4791248"/>
          </a:xfrm>
          <a:prstGeom prst="rect">
            <a:avLst/>
          </a:prstGeom>
        </p:spPr>
      </p:pic>
      <p:sp>
        <p:nvSpPr>
          <p:cNvPr id="4" name="Train fact 1"/>
          <p:cNvSpPr txBox="1"/>
          <p:nvPr/>
        </p:nvSpPr>
        <p:spPr>
          <a:xfrm>
            <a:off x="8138160" y="1325880"/>
            <a:ext cx="3520440" cy="1051560"/>
          </a:xfrm>
          <a:prstGeom prst="rect">
            <a:avLst/>
          </a:prstGeom>
          <a:noFill/>
          <a:ln/>
        </p:spPr>
        <p:txBody>
          <a:bodyPr wrap="square" lIns="0" tIns="0" rIns="0" bIns="0" rtlCol="0" anchor="t"/>
          <a:lstStyle/>
          <a:p>
            <a:pPr indent="0" marL="0">
              <a:buNone/>
            </a:pPr>
            <a:r>
              <a:rPr lang="en-US" sz="2200" b="1" dirty="0">
                <a:solidFill>
                  <a:schemeClr val="accent1"/>
                </a:solidFill>
                <a:latin typeface="Century Schoolbook" pitchFamily="34" charset="0"/>
                <a:ea typeface="Century Schoolbook" pitchFamily="34" charset="-122"/>
                <a:cs typeface="Century Schoolbook" pitchFamily="34" charset="-120"/>
              </a:rPr>
              <a:t>17 → epoch 12</a:t>
            </a:r>
            <a:endParaRPr lang="en-US" sz="2200" dirty="0"/>
          </a:p>
          <a:p>
            <a:pPr indent="0" marL="0">
              <a:buNone/>
            </a:pPr>
            <a:r>
              <a:rPr lang="en-US" sz="1400" dirty="0">
                <a:solidFill>
                  <a:schemeClr val="tx1"/>
                </a:solidFill>
              </a:rPr>
              <a:t>Dense network: early stopping, best weights kept</a:t>
            </a:r>
            <a:endParaRPr lang="en-US" sz="2200" dirty="0"/>
          </a:p>
        </p:txBody>
      </p:sp>
      <p:sp>
        <p:nvSpPr>
          <p:cNvPr id="5" name="Train fact 2"/>
          <p:cNvSpPr txBox="1"/>
          <p:nvPr/>
        </p:nvSpPr>
        <p:spPr>
          <a:xfrm>
            <a:off x="8138160" y="2514600"/>
            <a:ext cx="3520440" cy="1051560"/>
          </a:xfrm>
          <a:prstGeom prst="rect">
            <a:avLst/>
          </a:prstGeom>
          <a:noFill/>
          <a:ln/>
        </p:spPr>
        <p:txBody>
          <a:bodyPr wrap="square" lIns="0" tIns="0" rIns="0" bIns="0" rtlCol="0" anchor="t"/>
          <a:lstStyle/>
          <a:p>
            <a:pPr indent="0" marL="0">
              <a:buNone/>
            </a:pPr>
            <a:r>
              <a:rPr lang="en-US" sz="2200" b="1" dirty="0">
                <a:solidFill>
                  <a:schemeClr val="accent1"/>
                </a:solidFill>
                <a:latin typeface="Century Schoolbook" pitchFamily="34" charset="0"/>
                <a:ea typeface="Century Schoolbook" pitchFamily="34" charset="-122"/>
                <a:cs typeface="Century Schoolbook" pitchFamily="34" charset="-120"/>
              </a:rPr>
              <a:t>15 → epoch 14</a:t>
            </a:r>
            <a:endParaRPr lang="en-US" sz="2200" dirty="0"/>
          </a:p>
          <a:p>
            <a:pPr indent="0" marL="0">
              <a:buNone/>
            </a:pPr>
            <a:r>
              <a:rPr lang="en-US" sz="1400" dirty="0">
                <a:solidFill>
                  <a:schemeClr val="tx1"/>
                </a:solidFill>
              </a:rPr>
              <a:t>CNN: ran all 15 epochs, best at epoch 14</a:t>
            </a:r>
            <a:endParaRPr lang="en-US" sz="2200" dirty="0"/>
          </a:p>
        </p:txBody>
      </p:sp>
      <p:sp>
        <p:nvSpPr>
          <p:cNvPr id="6" name="Train fact 3"/>
          <p:cNvSpPr txBox="1"/>
          <p:nvPr/>
        </p:nvSpPr>
        <p:spPr>
          <a:xfrm>
            <a:off x="8138160" y="3703320"/>
            <a:ext cx="3520440" cy="1051560"/>
          </a:xfrm>
          <a:prstGeom prst="rect">
            <a:avLst/>
          </a:prstGeom>
          <a:noFill/>
          <a:ln/>
        </p:spPr>
        <p:txBody>
          <a:bodyPr wrap="square" lIns="0" tIns="0" rIns="0" bIns="0" rtlCol="0" anchor="t"/>
          <a:lstStyle/>
          <a:p>
            <a:pPr indent="0" marL="0">
              <a:buNone/>
            </a:pPr>
            <a:r>
              <a:rPr lang="en-US" sz="2200" b="1" dirty="0">
                <a:solidFill>
                  <a:schemeClr val="accent1"/>
                </a:solidFill>
                <a:latin typeface="Century Schoolbook" pitchFamily="34" charset="0"/>
                <a:ea typeface="Century Schoolbook" pitchFamily="34" charset="-122"/>
                <a:cs typeface="Century Schoolbook" pitchFamily="34" charset="-120"/>
              </a:rPr>
              <a:t>97.8% / 98.9%</a:t>
            </a:r>
            <a:endParaRPr lang="en-US" sz="2200" dirty="0"/>
          </a:p>
          <a:p>
            <a:pPr indent="0" marL="0">
              <a:buNone/>
            </a:pPr>
            <a:r>
              <a:rPr lang="en-US" sz="1400" dirty="0">
                <a:solidFill>
                  <a:schemeClr val="tx1"/>
                </a:solidFill>
              </a:rPr>
              <a:t>validation accuracy at the best epoch (dense / CNN)</a:t>
            </a:r>
            <a:endParaRPr lang="en-US" sz="2200" dirty="0"/>
          </a:p>
        </p:txBody>
      </p:sp>
      <p:sp>
        <p:nvSpPr>
          <p:cNvPr id="7" name="Train fact 4"/>
          <p:cNvSpPr txBox="1"/>
          <p:nvPr/>
        </p:nvSpPr>
        <p:spPr>
          <a:xfrm>
            <a:off x="8138160" y="4892040"/>
            <a:ext cx="3520440" cy="1051560"/>
          </a:xfrm>
          <a:prstGeom prst="rect">
            <a:avLst/>
          </a:prstGeom>
          <a:noFill/>
          <a:ln/>
        </p:spPr>
        <p:txBody>
          <a:bodyPr wrap="square" lIns="0" tIns="0" rIns="0" bIns="0" rtlCol="0" anchor="t"/>
          <a:lstStyle/>
          <a:p>
            <a:pPr indent="0" marL="0">
              <a:buNone/>
            </a:pPr>
            <a:r>
              <a:rPr lang="en-US" sz="2200" b="1" dirty="0">
                <a:solidFill>
                  <a:schemeClr val="accent1"/>
                </a:solidFill>
                <a:latin typeface="Century Schoolbook" pitchFamily="34" charset="0"/>
                <a:ea typeface="Century Schoolbook" pitchFamily="34" charset="-122"/>
                <a:cs typeface="Century Schoolbook" pitchFamily="34" charset="-120"/>
              </a:rPr>
              <a:t>Batch 128 · Adam</a:t>
            </a:r>
            <a:endParaRPr lang="en-US" sz="2200" dirty="0"/>
          </a:p>
          <a:p>
            <a:pPr indent="0" marL="0">
              <a:buNone/>
            </a:pPr>
            <a:r>
              <a:rPr lang="en-US" sz="1400" dirty="0">
                <a:solidFill>
                  <a:schemeClr val="tx1"/>
                </a:solidFill>
              </a:rPr>
              <a:t>learning rate 0.001, up to 30 / 15 epochs</a:t>
            </a:r>
            <a:endParaRPr lang="en-US" sz="2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Results on 10,000 unseen test images</a:t>
            </a:r>
            <a:endParaRPr lang="en-US" sz="3200" dirty="0"/>
          </a:p>
        </p:txBody>
      </p:sp>
      <p:sp>
        <p:nvSpPr>
          <p:cNvPr id="3" name="Result 1"/>
          <p:cNvSpPr/>
          <p:nvPr/>
        </p:nvSpPr>
        <p:spPr>
          <a:xfrm>
            <a:off x="548640" y="1325880"/>
            <a:ext cx="2651760" cy="1645920"/>
          </a:xfrm>
          <a:prstGeom prst="roundRect">
            <a:avLst>
              <a:gd name="adj" fmla="val 6667"/>
            </a:avLst>
          </a:prstGeom>
          <a:solidFill>
            <a:schemeClr val="tx2"/>
          </a:solidFill>
          <a:ln/>
        </p:spPr>
      </p:sp>
      <p:sp>
        <p:nvSpPr>
          <p:cNvPr id="4" name="Result 1 value"/>
          <p:cNvSpPr txBox="1"/>
          <p:nvPr/>
        </p:nvSpPr>
        <p:spPr>
          <a:xfrm>
            <a:off x="731520" y="1417320"/>
            <a:ext cx="2286000" cy="731520"/>
          </a:xfrm>
          <a:prstGeom prst="rect">
            <a:avLst/>
          </a:prstGeom>
          <a:noFill/>
          <a:ln/>
        </p:spPr>
        <p:txBody>
          <a:bodyPr wrap="square" lIns="0" tIns="0" rIns="0" bIns="0" rtlCol="0" anchor="ctr"/>
          <a:lstStyle/>
          <a:p>
            <a:pPr indent="0" marL="0">
              <a:buNone/>
            </a:pPr>
            <a:r>
              <a:rPr lang="en-US" sz="3200" b="1" dirty="0">
                <a:solidFill>
                  <a:schemeClr val="bg1"/>
                </a:solidFill>
                <a:latin typeface="Century Schoolbook" pitchFamily="34" charset="0"/>
                <a:ea typeface="Century Schoolbook" pitchFamily="34" charset="-122"/>
                <a:cs typeface="Century Schoolbook" pitchFamily="34" charset="-120"/>
              </a:rPr>
              <a:t>99.19%</a:t>
            </a:r>
            <a:endParaRPr lang="en-US" sz="3200" dirty="0"/>
          </a:p>
        </p:txBody>
      </p:sp>
      <p:sp>
        <p:nvSpPr>
          <p:cNvPr id="5" name="Result 1 label"/>
          <p:cNvSpPr txBox="1"/>
          <p:nvPr/>
        </p:nvSpPr>
        <p:spPr>
          <a:xfrm>
            <a:off x="731520" y="2176272"/>
            <a:ext cx="2331720" cy="731520"/>
          </a:xfrm>
          <a:prstGeom prst="rect">
            <a:avLst/>
          </a:prstGeom>
          <a:noFill/>
          <a:ln/>
        </p:spPr>
        <p:txBody>
          <a:bodyPr wrap="square" lIns="0" tIns="0" rIns="0" bIns="0" rtlCol="0" anchor="t"/>
          <a:lstStyle/>
          <a:p>
            <a:pPr indent="0" marL="0">
              <a:buNone/>
            </a:pPr>
            <a:r>
              <a:rPr lang="en-US" sz="1500" b="1" dirty="0">
                <a:solidFill>
                  <a:schemeClr val="bg1"/>
                </a:solidFill>
              </a:rPr>
              <a:t>CNN accuracy</a:t>
            </a:r>
            <a:endParaRPr lang="en-US" sz="1500" dirty="0"/>
          </a:p>
          <a:p>
            <a:pPr indent="0" marL="0">
              <a:buNone/>
            </a:pPr>
            <a:r>
              <a:rPr lang="en-US" sz="1300" dirty="0">
                <a:solidFill>
                  <a:schemeClr val="accent6"/>
                </a:solidFill>
              </a:rPr>
              <a:t>81 mistakes in 10,000</a:t>
            </a:r>
            <a:endParaRPr lang="en-US" sz="1500" dirty="0"/>
          </a:p>
        </p:txBody>
      </p:sp>
      <p:sp>
        <p:nvSpPr>
          <p:cNvPr id="6" name="Result 2"/>
          <p:cNvSpPr/>
          <p:nvPr/>
        </p:nvSpPr>
        <p:spPr>
          <a:xfrm>
            <a:off x="3383280" y="1325880"/>
            <a:ext cx="2651760" cy="1645920"/>
          </a:xfrm>
          <a:prstGeom prst="roundRect">
            <a:avLst>
              <a:gd name="adj" fmla="val 6667"/>
            </a:avLst>
          </a:prstGeom>
          <a:solidFill>
            <a:schemeClr val="bg2"/>
          </a:solidFill>
          <a:ln/>
        </p:spPr>
      </p:sp>
      <p:sp>
        <p:nvSpPr>
          <p:cNvPr id="7" name="Result 2 value"/>
          <p:cNvSpPr txBox="1"/>
          <p:nvPr/>
        </p:nvSpPr>
        <p:spPr>
          <a:xfrm>
            <a:off x="3566160" y="1417320"/>
            <a:ext cx="2286000" cy="731520"/>
          </a:xfrm>
          <a:prstGeom prst="rect">
            <a:avLst/>
          </a:prstGeom>
          <a:noFill/>
          <a:ln/>
        </p:spPr>
        <p:txBody>
          <a:bodyPr wrap="square" lIns="0" tIns="0" rIns="0" bIns="0" rtlCol="0" anchor="ctr"/>
          <a:lstStyle/>
          <a:p>
            <a:pPr indent="0" marL="0">
              <a:buNone/>
            </a:pPr>
            <a:r>
              <a:rPr lang="en-US" sz="3200" b="1" dirty="0">
                <a:solidFill>
                  <a:schemeClr val="accent1"/>
                </a:solidFill>
                <a:latin typeface="Century Schoolbook" pitchFamily="34" charset="0"/>
                <a:ea typeface="Century Schoolbook" pitchFamily="34" charset="-122"/>
                <a:cs typeface="Century Schoolbook" pitchFamily="34" charset="-120"/>
              </a:rPr>
              <a:t>97.93%</a:t>
            </a:r>
            <a:endParaRPr lang="en-US" sz="3200" dirty="0"/>
          </a:p>
        </p:txBody>
      </p:sp>
      <p:sp>
        <p:nvSpPr>
          <p:cNvPr id="8" name="Result 2 label"/>
          <p:cNvSpPr txBox="1"/>
          <p:nvPr/>
        </p:nvSpPr>
        <p:spPr>
          <a:xfrm>
            <a:off x="3566160" y="2176272"/>
            <a:ext cx="2331720" cy="731520"/>
          </a:xfrm>
          <a:prstGeom prst="rect">
            <a:avLst/>
          </a:prstGeom>
          <a:noFill/>
          <a:ln/>
        </p:spPr>
        <p:txBody>
          <a:bodyPr wrap="square" lIns="0" tIns="0" rIns="0" bIns="0" rtlCol="0" anchor="t"/>
          <a:lstStyle/>
          <a:p>
            <a:pPr indent="0" marL="0">
              <a:buNone/>
            </a:pPr>
            <a:r>
              <a:rPr lang="en-US" sz="1500" b="1" dirty="0">
                <a:solidFill>
                  <a:schemeClr val="tx2"/>
                </a:solidFill>
              </a:rPr>
              <a:t>Dense network accuracy</a:t>
            </a:r>
            <a:endParaRPr lang="en-US" sz="1500" dirty="0"/>
          </a:p>
          <a:p>
            <a:pPr indent="0" marL="0">
              <a:buNone/>
            </a:pPr>
            <a:r>
              <a:rPr lang="en-US" sz="1300" dirty="0">
                <a:solidFill>
                  <a:schemeClr val="accent5"/>
                </a:solidFill>
              </a:rPr>
              <a:t>207 mistakes in 10,000</a:t>
            </a:r>
            <a:endParaRPr lang="en-US" sz="1500" dirty="0"/>
          </a:p>
        </p:txBody>
      </p:sp>
      <p:sp>
        <p:nvSpPr>
          <p:cNvPr id="9" name="Result 3"/>
          <p:cNvSpPr/>
          <p:nvPr/>
        </p:nvSpPr>
        <p:spPr>
          <a:xfrm>
            <a:off x="6217920" y="1325880"/>
            <a:ext cx="2651760" cy="1645920"/>
          </a:xfrm>
          <a:prstGeom prst="roundRect">
            <a:avLst>
              <a:gd name="adj" fmla="val 6667"/>
            </a:avLst>
          </a:prstGeom>
          <a:solidFill>
            <a:schemeClr val="bg2"/>
          </a:solidFill>
          <a:ln/>
        </p:spPr>
      </p:sp>
      <p:sp>
        <p:nvSpPr>
          <p:cNvPr id="10" name="Result 3 value"/>
          <p:cNvSpPr txBox="1"/>
          <p:nvPr/>
        </p:nvSpPr>
        <p:spPr>
          <a:xfrm>
            <a:off x="6400800" y="1417320"/>
            <a:ext cx="2286000" cy="731520"/>
          </a:xfrm>
          <a:prstGeom prst="rect">
            <a:avLst/>
          </a:prstGeom>
          <a:noFill/>
          <a:ln/>
        </p:spPr>
        <p:txBody>
          <a:bodyPr wrap="square" lIns="0" tIns="0" rIns="0" bIns="0" rtlCol="0" anchor="ctr"/>
          <a:lstStyle/>
          <a:p>
            <a:pPr indent="0" marL="0">
              <a:buNone/>
            </a:pPr>
            <a:r>
              <a:rPr lang="en-US" sz="3200" b="1" dirty="0">
                <a:solidFill>
                  <a:schemeClr val="accent1"/>
                </a:solidFill>
                <a:latin typeface="Century Schoolbook" pitchFamily="34" charset="0"/>
                <a:ea typeface="Century Schoolbook" pitchFamily="34" charset="-122"/>
                <a:cs typeface="Century Schoolbook" pitchFamily="34" charset="-120"/>
              </a:rPr>
              <a:t>0.992</a:t>
            </a:r>
            <a:endParaRPr lang="en-US" sz="3200" dirty="0"/>
          </a:p>
        </p:txBody>
      </p:sp>
      <p:sp>
        <p:nvSpPr>
          <p:cNvPr id="11" name="Result 3 label"/>
          <p:cNvSpPr txBox="1"/>
          <p:nvPr/>
        </p:nvSpPr>
        <p:spPr>
          <a:xfrm>
            <a:off x="6400800" y="2176272"/>
            <a:ext cx="2331720" cy="731520"/>
          </a:xfrm>
          <a:prstGeom prst="rect">
            <a:avLst/>
          </a:prstGeom>
          <a:noFill/>
          <a:ln/>
        </p:spPr>
        <p:txBody>
          <a:bodyPr wrap="square" lIns="0" tIns="0" rIns="0" bIns="0" rtlCol="0" anchor="t"/>
          <a:lstStyle/>
          <a:p>
            <a:pPr indent="0" marL="0">
              <a:buNone/>
            </a:pPr>
            <a:r>
              <a:rPr lang="en-US" sz="1500" b="1" dirty="0">
                <a:solidFill>
                  <a:schemeClr val="tx2"/>
                </a:solidFill>
              </a:rPr>
              <a:t>CNN macro F1-score</a:t>
            </a:r>
            <a:endParaRPr lang="en-US" sz="1500" dirty="0"/>
          </a:p>
          <a:p>
            <a:pPr indent="0" marL="0">
              <a:buNone/>
            </a:pPr>
            <a:r>
              <a:rPr lang="en-US" sz="1300" dirty="0">
                <a:solidFill>
                  <a:schemeClr val="accent5"/>
                </a:solidFill>
              </a:rPr>
              <a:t>precision and recall ≈ 0.992</a:t>
            </a:r>
            <a:endParaRPr lang="en-US" sz="1500" dirty="0"/>
          </a:p>
        </p:txBody>
      </p:sp>
      <p:sp>
        <p:nvSpPr>
          <p:cNvPr id="12" name="Result 4"/>
          <p:cNvSpPr/>
          <p:nvPr/>
        </p:nvSpPr>
        <p:spPr>
          <a:xfrm>
            <a:off x="9052560" y="1325880"/>
            <a:ext cx="2651760" cy="1645920"/>
          </a:xfrm>
          <a:prstGeom prst="roundRect">
            <a:avLst>
              <a:gd name="adj" fmla="val 6667"/>
            </a:avLst>
          </a:prstGeom>
          <a:solidFill>
            <a:schemeClr val="bg2"/>
          </a:solidFill>
          <a:ln/>
        </p:spPr>
      </p:sp>
      <p:sp>
        <p:nvSpPr>
          <p:cNvPr id="13" name="Result 4 value"/>
          <p:cNvSpPr txBox="1"/>
          <p:nvPr/>
        </p:nvSpPr>
        <p:spPr>
          <a:xfrm>
            <a:off x="9235440" y="1417320"/>
            <a:ext cx="2286000" cy="731520"/>
          </a:xfrm>
          <a:prstGeom prst="rect">
            <a:avLst/>
          </a:prstGeom>
          <a:noFill/>
          <a:ln/>
        </p:spPr>
        <p:txBody>
          <a:bodyPr wrap="square" lIns="0" tIns="0" rIns="0" bIns="0" rtlCol="0" anchor="ctr"/>
          <a:lstStyle/>
          <a:p>
            <a:pPr indent="0" marL="0">
              <a:buNone/>
            </a:pPr>
            <a:r>
              <a:rPr lang="en-US" sz="3200" b="1" dirty="0">
                <a:solidFill>
                  <a:schemeClr val="accent1"/>
                </a:solidFill>
                <a:latin typeface="Century Schoolbook" pitchFamily="34" charset="0"/>
                <a:ea typeface="Century Schoolbook" pitchFamily="34" charset="-122"/>
                <a:cs typeface="Century Schoolbook" pitchFamily="34" charset="-120"/>
              </a:rPr>
              <a:t>98.5%</a:t>
            </a:r>
            <a:endParaRPr lang="en-US" sz="3200" dirty="0"/>
          </a:p>
        </p:txBody>
      </p:sp>
      <p:sp>
        <p:nvSpPr>
          <p:cNvPr id="14" name="Result 4 label"/>
          <p:cNvSpPr txBox="1"/>
          <p:nvPr/>
        </p:nvSpPr>
        <p:spPr>
          <a:xfrm>
            <a:off x="9235440" y="2176272"/>
            <a:ext cx="2331720" cy="731520"/>
          </a:xfrm>
          <a:prstGeom prst="rect">
            <a:avLst/>
          </a:prstGeom>
          <a:noFill/>
          <a:ln/>
        </p:spPr>
        <p:txBody>
          <a:bodyPr wrap="square" lIns="0" tIns="0" rIns="0" bIns="0" rtlCol="0" anchor="t"/>
          <a:lstStyle/>
          <a:p>
            <a:pPr indent="0" marL="0">
              <a:buNone/>
            </a:pPr>
            <a:r>
              <a:rPr lang="en-US" sz="1500" b="1" dirty="0">
                <a:solidFill>
                  <a:schemeClr val="tx2"/>
                </a:solidFill>
              </a:rPr>
              <a:t>Hardest digit for the CNN: 7</a:t>
            </a:r>
            <a:endParaRPr lang="en-US" sz="1500" dirty="0"/>
          </a:p>
          <a:p>
            <a:pPr indent="0" marL="0">
              <a:buNone/>
            </a:pPr>
            <a:r>
              <a:rPr lang="en-US" sz="1300" dirty="0">
                <a:solidFill>
                  <a:schemeClr val="accent5"/>
                </a:solidFill>
              </a:rPr>
              <a:t>sometimes read as 9 or 2</a:t>
            </a:r>
            <a:endParaRPr lang="en-US" sz="1500" dirty="0"/>
          </a:p>
        </p:txBody>
      </p:sp>
      <p:pic>
        <p:nvPicPr>
          <p:cNvPr id="15" name="CNN confusion matrix" descr="/home/claude/project2/mnist-digit-classification-nn/results/figures/07_confusion_matrix_cnn.png">    </p:cNvPr>
          <p:cNvPicPr>
            <a:picLocks noChangeAspect="1"/>
          </p:cNvPicPr>
          <p:nvPr/>
        </p:nvPicPr>
        <p:blipFill>
          <a:blip r:embed="rId1"/>
          <a:stretch>
            <a:fillRect/>
          </a:stretch>
        </p:blipFill>
        <p:spPr>
          <a:xfrm>
            <a:off x="1033426" y="3154680"/>
            <a:ext cx="3053788" cy="3108960"/>
          </a:xfrm>
          <a:prstGeom prst="rect">
            <a:avLst/>
          </a:prstGeom>
        </p:spPr>
      </p:pic>
      <p:sp>
        <p:nvSpPr>
          <p:cNvPr id="16" name="Results notes"/>
          <p:cNvSpPr txBox="1"/>
          <p:nvPr/>
        </p:nvSpPr>
        <p:spPr>
          <a:xfrm>
            <a:off x="4937760" y="3246120"/>
            <a:ext cx="6675120" cy="2926080"/>
          </a:xfrm>
          <a:prstGeom prst="rect">
            <a:avLst/>
          </a:prstGeom>
          <a:noFill/>
          <a:ln/>
        </p:spPr>
        <p:txBody>
          <a:bodyPr wrap="square" lIns="0" tIns="0" rIns="0" bIns="0" rtlCol="0" anchor="t"/>
          <a:lstStyle/>
          <a:p>
            <a:pPr indent="0" marL="0">
              <a:spcAft>
                <a:spcPts val="500"/>
              </a:spcAft>
              <a:buNone/>
            </a:pPr>
            <a:r>
              <a:rPr lang="en-US" sz="1700" b="1" dirty="0">
                <a:solidFill>
                  <a:schemeClr val="tx2"/>
                </a:solidFill>
              </a:rPr>
              <a:t>Reading the confusion matrix</a:t>
            </a:r>
            <a:endParaRPr lang="en-US" sz="1500" dirty="0"/>
          </a:p>
          <a:p>
            <a:pPr marL="342900" indent="-342900">
              <a:spcAft>
                <a:spcPts val="500"/>
              </a:spcAft>
              <a:buSzPct val="100000"/>
              <a:buChar char="•"/>
            </a:pPr>
            <a:r>
              <a:rPr lang="en-US" sz="1500" dirty="0">
                <a:solidFill>
                  <a:schemeClr val="tx1"/>
                </a:solidFill>
              </a:rPr>
              <a:t>Rows are the true digit, columns the prediction; the dark diagonal is correct answers</a:t>
            </a:r>
            <a:endParaRPr lang="en-US" sz="1500" dirty="0"/>
          </a:p>
          <a:p>
            <a:pPr marL="342900" indent="-342900">
              <a:spcAft>
                <a:spcPts val="500"/>
              </a:spcAft>
              <a:buSzPct val="100000"/>
              <a:buChar char="•"/>
            </a:pPr>
            <a:r>
              <a:rPr lang="en-US" sz="1500" dirty="0">
                <a:solidFill>
                  <a:schemeClr val="tx1"/>
                </a:solidFill>
              </a:rPr>
              <a:t>CNN's most common mistakes: 9→5 (5), 7→9 (5), 7→2 (5)</a:t>
            </a:r>
            <a:endParaRPr lang="en-US" sz="1500" dirty="0"/>
          </a:p>
          <a:p>
            <a:pPr marL="342900" indent="-342900">
              <a:spcAft>
                <a:spcPts val="500"/>
              </a:spcAft>
              <a:buSzPct val="100000"/>
              <a:buChar char="•"/>
            </a:pPr>
            <a:r>
              <a:rPr lang="en-US" sz="1500" dirty="0">
                <a:solidFill>
                  <a:schemeClr val="tx1"/>
                </a:solidFill>
              </a:rPr>
              <a:t>Dense network's: 4→9 (14), 9→4 (9), 8→3 (8)</a:t>
            </a:r>
            <a:endParaRPr lang="en-US" sz="1500" dirty="0"/>
          </a:p>
          <a:p>
            <a:pPr marL="342900" indent="-342900">
              <a:spcAft>
                <a:spcPts val="500"/>
              </a:spcAft>
              <a:buSzPct val="100000"/>
              <a:buChar char="•"/>
            </a:pPr>
            <a:r>
              <a:rPr lang="en-US" sz="1500" dirty="0">
                <a:solidFill>
                  <a:schemeClr val="tx1"/>
                </a:solidFill>
              </a:rPr>
              <a:t>The CNN is better on every digit and makes less than half the errors (207 → 81)</a:t>
            </a:r>
            <a:endParaRPr lang="en-US" sz="1500" dirty="0"/>
          </a:p>
          <a:p>
            <a:pPr indent="0" marL="0">
              <a:spcAft>
                <a:spcPts val="500"/>
              </a:spcAft>
              <a:buNone/>
            </a:pPr>
            <a:r>
              <a:rPr lang="en-US" sz="1500" b="1" dirty="0">
                <a:solidFill>
                  <a:schemeClr val="accent1"/>
                </a:solidFill>
              </a:rPr>
              <a:t>Both models clearly exceed the 95% target</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Error analysis: where and why it fails</a:t>
            </a:r>
            <a:endParaRPr lang="en-US" sz="3200" dirty="0"/>
          </a:p>
        </p:txBody>
      </p:sp>
      <p:pic>
        <p:nvPicPr>
          <p:cNvPr id="3" name="Mistakes" descr="/home/claude/project2/mnist-digit-classification-nn/results/figures/10_misclassified_examples.png">    </p:cNvPr>
          <p:cNvPicPr>
            <a:picLocks noChangeAspect="1"/>
          </p:cNvPicPr>
          <p:nvPr/>
        </p:nvPicPr>
        <p:blipFill>
          <a:blip r:embed="rId1"/>
          <a:stretch>
            <a:fillRect/>
          </a:stretch>
        </p:blipFill>
        <p:spPr>
          <a:xfrm>
            <a:off x="457200" y="2073744"/>
            <a:ext cx="6949440" cy="3259152"/>
          </a:xfrm>
          <a:prstGeom prst="rect">
            <a:avLst/>
          </a:prstGeom>
        </p:spPr>
      </p:pic>
      <p:sp>
        <p:nvSpPr>
          <p:cNvPr id="4" name="EA 1"/>
          <p:cNvSpPr/>
          <p:nvPr/>
        </p:nvSpPr>
        <p:spPr>
          <a:xfrm>
            <a:off x="7680960" y="1325880"/>
            <a:ext cx="3931920" cy="1417320"/>
          </a:xfrm>
          <a:prstGeom prst="roundRect">
            <a:avLst>
              <a:gd name="adj" fmla="val 7742"/>
            </a:avLst>
          </a:prstGeom>
          <a:solidFill>
            <a:schemeClr val="bg2"/>
          </a:solidFill>
          <a:ln/>
        </p:spPr>
      </p:sp>
      <p:sp>
        <p:nvSpPr>
          <p:cNvPr id="5" name="EA 1 text"/>
          <p:cNvSpPr txBox="1"/>
          <p:nvPr/>
        </p:nvSpPr>
        <p:spPr>
          <a:xfrm>
            <a:off x="7863840" y="1417320"/>
            <a:ext cx="3611880" cy="1280160"/>
          </a:xfrm>
          <a:prstGeom prst="rect">
            <a:avLst/>
          </a:prstGeom>
          <a:noFill/>
          <a:ln/>
        </p:spPr>
        <p:txBody>
          <a:bodyPr wrap="square" lIns="0" tIns="0" rIns="0" bIns="0" rtlCol="0" anchor="t"/>
          <a:lstStyle/>
          <a:p>
            <a:pPr indent="0" marL="0">
              <a:buNone/>
            </a:pPr>
            <a:r>
              <a:rPr lang="en-US" sz="2200" b="1" dirty="0">
                <a:solidFill>
                  <a:schemeClr val="accent1"/>
                </a:solidFill>
                <a:latin typeface="Century Schoolbook" pitchFamily="34" charset="0"/>
                <a:ea typeface="Century Schoolbook" pitchFamily="34" charset="-122"/>
                <a:cs typeface="Century Schoolbook" pitchFamily="34" charset="-120"/>
              </a:rPr>
              <a:t>93.5%</a:t>
            </a:r>
            <a:endParaRPr lang="en-US" sz="2200" dirty="0"/>
          </a:p>
          <a:p>
            <a:pPr indent="0" marL="0">
              <a:buNone/>
            </a:pPr>
            <a:r>
              <a:rPr lang="en-US" sz="1400" b="1" dirty="0">
                <a:solidFill>
                  <a:schemeClr val="tx2"/>
                </a:solidFill>
              </a:rPr>
              <a:t>of test images get ≥ 99% confidence</a:t>
            </a:r>
            <a:endParaRPr lang="en-US" sz="2200" dirty="0"/>
          </a:p>
          <a:p>
            <a:pPr indent="0" marL="0">
              <a:buNone/>
            </a:pPr>
            <a:r>
              <a:rPr lang="en-US" sz="1300" dirty="0">
                <a:solidFill>
                  <a:schemeClr val="tx1"/>
                </a:solidFill>
              </a:rPr>
              <a:t>and those are right 99.97% of the time</a:t>
            </a:r>
            <a:endParaRPr lang="en-US" sz="2200" dirty="0"/>
          </a:p>
        </p:txBody>
      </p:sp>
      <p:sp>
        <p:nvSpPr>
          <p:cNvPr id="6" name="EA 2"/>
          <p:cNvSpPr/>
          <p:nvPr/>
        </p:nvSpPr>
        <p:spPr>
          <a:xfrm>
            <a:off x="7680960" y="2926080"/>
            <a:ext cx="3931920" cy="1417320"/>
          </a:xfrm>
          <a:prstGeom prst="roundRect">
            <a:avLst>
              <a:gd name="adj" fmla="val 7742"/>
            </a:avLst>
          </a:prstGeom>
          <a:solidFill>
            <a:schemeClr val="bg2"/>
          </a:solidFill>
          <a:ln/>
        </p:spPr>
      </p:sp>
      <p:sp>
        <p:nvSpPr>
          <p:cNvPr id="7" name="EA 2 text"/>
          <p:cNvSpPr txBox="1"/>
          <p:nvPr/>
        </p:nvSpPr>
        <p:spPr>
          <a:xfrm>
            <a:off x="7863840" y="3017520"/>
            <a:ext cx="3611880" cy="1280160"/>
          </a:xfrm>
          <a:prstGeom prst="rect">
            <a:avLst/>
          </a:prstGeom>
          <a:noFill/>
          <a:ln/>
        </p:spPr>
        <p:txBody>
          <a:bodyPr wrap="square" lIns="0" tIns="0" rIns="0" bIns="0" rtlCol="0" anchor="t"/>
          <a:lstStyle/>
          <a:p>
            <a:pPr indent="0" marL="0">
              <a:buNone/>
            </a:pPr>
            <a:r>
              <a:rPr lang="en-US" sz="2200" b="1" dirty="0">
                <a:solidFill>
                  <a:schemeClr val="accent1"/>
                </a:solidFill>
                <a:latin typeface="Century Schoolbook" pitchFamily="34" charset="0"/>
                <a:ea typeface="Century Schoolbook" pitchFamily="34" charset="-122"/>
                <a:cs typeface="Century Schoolbook" pitchFamily="34" charset="-120"/>
              </a:rPr>
              <a:t>80%</a:t>
            </a:r>
            <a:endParaRPr lang="en-US" sz="2200" dirty="0"/>
          </a:p>
          <a:p>
            <a:pPr indent="0" marL="0">
              <a:buNone/>
            </a:pPr>
            <a:r>
              <a:rPr lang="en-US" sz="1400" b="1" dirty="0">
                <a:solidFill>
                  <a:schemeClr val="tx2"/>
                </a:solidFill>
              </a:rPr>
              <a:t>of the CNN's mistakes</a:t>
            </a:r>
            <a:endParaRPr lang="en-US" sz="2200" dirty="0"/>
          </a:p>
          <a:p>
            <a:pPr indent="0" marL="0">
              <a:buNone/>
            </a:pPr>
            <a:r>
              <a:rPr lang="en-US" sz="1300" dirty="0">
                <a:solidFill>
                  <a:schemeClr val="tx1"/>
                </a:solidFill>
              </a:rPr>
              <a:t>have confidence below 90%: the model 'knows' when it is unsure</a:t>
            </a:r>
            <a:endParaRPr lang="en-US" sz="2200" dirty="0"/>
          </a:p>
        </p:txBody>
      </p:sp>
      <p:sp>
        <p:nvSpPr>
          <p:cNvPr id="8" name="EA 3"/>
          <p:cNvSpPr/>
          <p:nvPr/>
        </p:nvSpPr>
        <p:spPr>
          <a:xfrm>
            <a:off x="7680960" y="4526280"/>
            <a:ext cx="3931920" cy="1417320"/>
          </a:xfrm>
          <a:prstGeom prst="roundRect">
            <a:avLst>
              <a:gd name="adj" fmla="val 7742"/>
            </a:avLst>
          </a:prstGeom>
          <a:solidFill>
            <a:schemeClr val="bg2"/>
          </a:solidFill>
          <a:ln/>
        </p:spPr>
      </p:sp>
      <p:sp>
        <p:nvSpPr>
          <p:cNvPr id="9" name="EA 3 text"/>
          <p:cNvSpPr txBox="1"/>
          <p:nvPr/>
        </p:nvSpPr>
        <p:spPr>
          <a:xfrm>
            <a:off x="7863840" y="4617720"/>
            <a:ext cx="3611880" cy="1280160"/>
          </a:xfrm>
          <a:prstGeom prst="rect">
            <a:avLst/>
          </a:prstGeom>
          <a:noFill/>
          <a:ln/>
        </p:spPr>
        <p:txBody>
          <a:bodyPr wrap="square" lIns="0" tIns="0" rIns="0" bIns="0" rtlCol="0" anchor="t"/>
          <a:lstStyle/>
          <a:p>
            <a:pPr indent="0" marL="0">
              <a:buNone/>
            </a:pPr>
            <a:r>
              <a:rPr lang="en-US" sz="2200" b="1" dirty="0">
                <a:solidFill>
                  <a:schemeClr val="accent1"/>
                </a:solidFill>
                <a:latin typeface="Century Schoolbook" pitchFamily="34" charset="0"/>
                <a:ea typeface="Century Schoolbook" pitchFamily="34" charset="-122"/>
                <a:cs typeface="Century Schoolbook" pitchFamily="34" charset="-120"/>
              </a:rPr>
              <a:t>Ambiguous writing</a:t>
            </a:r>
            <a:endParaRPr lang="en-US" sz="2200" dirty="0"/>
          </a:p>
          <a:p>
            <a:pPr indent="0" marL="0">
              <a:buNone/>
            </a:pPr>
            <a:r>
              <a:rPr lang="en-US" sz="1400" b="1" dirty="0">
                <a:solidFill>
                  <a:schemeClr val="tx2"/>
                </a:solidFill>
              </a:rPr>
              <a:t>Many errors are hard even for people</a:t>
            </a:r>
            <a:endParaRPr lang="en-US" sz="2200" dirty="0"/>
          </a:p>
          <a:p>
            <a:pPr indent="0" marL="0">
              <a:buNone/>
            </a:pPr>
            <a:r>
              <a:rPr lang="en-US" sz="1300" dirty="0">
                <a:solidFill>
                  <a:schemeClr val="tx1"/>
                </a:solidFill>
              </a:rPr>
              <a:t>4s that look like 9s, 7s that look like 2s or 9s</a:t>
            </a:r>
            <a:endParaRPr lang="en-US" sz="2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Comparison with classical machine learning</a:t>
            </a:r>
            <a:endParaRPr lang="en-US" sz="3200" dirty="0"/>
          </a:p>
        </p:txBody>
      </p:sp>
      <p:graphicFrame>
        <p:nvGraphicFramePr>
          <p:cNvPr id="14" name="Comparison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566160"/>
                <a:gridCol w="1828800"/>
                <a:gridCol w="2011680"/>
                <a:gridCol w="3657600"/>
              </a:tblGrid>
              <a:tr h="50292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C274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Test accuracy</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C274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Errors / 10,000</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C274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Published (LeCun et al., 1998)</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C2742"/>
                    </a:solidFill>
                  </a:tcPr>
                </a:tc>
              </a:tr>
              <a:tr h="502920">
                <a:tc>
                  <a:txBody>
                    <a:bodyPr/>
                    <a:lstStyle/>
                    <a:p>
                      <a:pPr algn="l" indent="0" marL="0">
                        <a:buNone/>
                      </a:pPr>
                      <a:r>
                        <a:rPr lang="en-US" sz="1500" b="1" dirty="0">
                          <a:solidFill>
                            <a:srgbClr val="15192A"/>
                          </a:solidFill>
                          <a:latin typeface="Calibri" pitchFamily="34" charset="0"/>
                          <a:ea typeface="Calibri" pitchFamily="34" charset="-122"/>
                          <a:cs typeface="Calibri" pitchFamily="34" charset="-120"/>
                        </a:rPr>
                        <a:t>Convolutional neural network</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3EAFB"/>
                    </a:solidFill>
                  </a:tcPr>
                </a:tc>
                <a:tc>
                  <a:txBody>
                    <a:bodyPr/>
                    <a:lstStyle/>
                    <a:p>
                      <a:pPr algn="ctr" indent="0" marL="0">
                        <a:buNone/>
                      </a:pPr>
                      <a:r>
                        <a:rPr lang="en-US" sz="1500" b="1" dirty="0">
                          <a:solidFill>
                            <a:srgbClr val="15192A"/>
                          </a:solidFill>
                          <a:latin typeface="Calibri" pitchFamily="34" charset="0"/>
                          <a:ea typeface="Calibri" pitchFamily="34" charset="-122"/>
                          <a:cs typeface="Calibri" pitchFamily="34" charset="-120"/>
                        </a:rPr>
                        <a:t>99.19%</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3EAFB"/>
                    </a:solidFill>
                  </a:tcPr>
                </a:tc>
                <a:tc>
                  <a:txBody>
                    <a:bodyPr/>
                    <a:lstStyle/>
                    <a:p>
                      <a:pPr algn="ctr" indent="0" marL="0">
                        <a:buNone/>
                      </a:pPr>
                      <a:r>
                        <a:rPr lang="en-US" sz="1500" b="1" dirty="0">
                          <a:solidFill>
                            <a:srgbClr val="15192A"/>
                          </a:solidFill>
                          <a:latin typeface="Calibri" pitchFamily="34" charset="0"/>
                          <a:ea typeface="Calibri" pitchFamily="34" charset="-122"/>
                          <a:cs typeface="Calibri" pitchFamily="34" charset="-120"/>
                        </a:rPr>
                        <a:t>81</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3EAFB"/>
                    </a:solidFill>
                  </a:tcPr>
                </a:tc>
                <a:tc>
                  <a:txBody>
                    <a:bodyPr/>
                    <a:lstStyle/>
                    <a:p>
                      <a:pPr algn="ctr" indent="0" marL="0">
                        <a:buNone/>
                      </a:pPr>
                      <a:r>
                        <a:rPr lang="en-US" sz="1500" b="1" dirty="0">
                          <a:solidFill>
                            <a:srgbClr val="15192A"/>
                          </a:solidFill>
                          <a:latin typeface="Calibri" pitchFamily="34" charset="0"/>
                          <a:ea typeface="Calibri" pitchFamily="34" charset="-122"/>
                          <a:cs typeface="Calibri" pitchFamily="34" charset="-120"/>
                        </a:rPr>
                        <a:t>LeNet-5 CNN: 99.05%</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3EAFB"/>
                    </a:solidFill>
                  </a:tcPr>
                </a:tc>
              </a:tr>
              <a:tr h="502920">
                <a:tc>
                  <a:txBody>
                    <a:bodyPr/>
                    <a:lstStyle/>
                    <a:p>
                      <a:pPr algn="l" indent="0" marL="0">
                        <a:buNone/>
                      </a:pPr>
                      <a:r>
                        <a:rPr lang="en-US" sz="1500" b="1" dirty="0">
                          <a:solidFill>
                            <a:srgbClr val="15192A"/>
                          </a:solidFill>
                          <a:latin typeface="Calibri" pitchFamily="34" charset="0"/>
                          <a:ea typeface="Calibri" pitchFamily="34" charset="-122"/>
                          <a:cs typeface="Calibri" pitchFamily="34" charset="-120"/>
                        </a:rPr>
                        <a:t>Dense neural network</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3EAFB"/>
                    </a:solidFill>
                  </a:tcPr>
                </a:tc>
                <a:tc>
                  <a:txBody>
                    <a:bodyPr/>
                    <a:lstStyle/>
                    <a:p>
                      <a:pPr algn="ctr" indent="0" marL="0">
                        <a:buNone/>
                      </a:pPr>
                      <a:r>
                        <a:rPr lang="en-US" sz="1500" b="1" dirty="0">
                          <a:solidFill>
                            <a:srgbClr val="15192A"/>
                          </a:solidFill>
                          <a:latin typeface="Calibri" pitchFamily="34" charset="0"/>
                          <a:ea typeface="Calibri" pitchFamily="34" charset="-122"/>
                          <a:cs typeface="Calibri" pitchFamily="34" charset="-120"/>
                        </a:rPr>
                        <a:t>97.93%</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3EAFB"/>
                    </a:solidFill>
                  </a:tcPr>
                </a:tc>
                <a:tc>
                  <a:txBody>
                    <a:bodyPr/>
                    <a:lstStyle/>
                    <a:p>
                      <a:pPr algn="ctr" indent="0" marL="0">
                        <a:buNone/>
                      </a:pPr>
                      <a:r>
                        <a:rPr lang="en-US" sz="1500" b="1" dirty="0">
                          <a:solidFill>
                            <a:srgbClr val="15192A"/>
                          </a:solidFill>
                          <a:latin typeface="Calibri" pitchFamily="34" charset="0"/>
                          <a:ea typeface="Calibri" pitchFamily="34" charset="-122"/>
                          <a:cs typeface="Calibri" pitchFamily="34" charset="-120"/>
                        </a:rPr>
                        <a:t>207</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3EAFB"/>
                    </a:solidFill>
                  </a:tcPr>
                </a:tc>
                <a:tc>
                  <a:txBody>
                    <a:bodyPr/>
                    <a:lstStyle/>
                    <a:p>
                      <a:pPr algn="ctr" indent="0" marL="0">
                        <a:buNone/>
                      </a:pPr>
                      <a:r>
                        <a:rPr lang="en-US" sz="1500" b="1" dirty="0">
                          <a:solidFill>
                            <a:srgbClr val="15192A"/>
                          </a:solidFill>
                          <a:latin typeface="Calibri" pitchFamily="34" charset="0"/>
                          <a:ea typeface="Calibri" pitchFamily="34" charset="-122"/>
                          <a:cs typeface="Calibri" pitchFamily="34" charset="-120"/>
                        </a:rPr>
                        <a:t>2-layer NN (300 units): 95.3%</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3EAFB"/>
                    </a:solidFill>
                  </a:tcPr>
                </a:tc>
              </a:tr>
              <a:tr h="502920">
                <a:tc>
                  <a:txBody>
                    <a:bodyPr/>
                    <a:lstStyle/>
                    <a:p>
                      <a:pPr algn="l" indent="0" marL="0">
                        <a:buNone/>
                      </a:pPr>
                      <a:r>
                        <a:rPr lang="en-US" sz="1500" dirty="0">
                          <a:solidFill>
                            <a:srgbClr val="15192A"/>
                          </a:solidFill>
                          <a:latin typeface="Calibri" pitchFamily="34" charset="0"/>
                          <a:ea typeface="Calibri" pitchFamily="34" charset="-122"/>
                          <a:cs typeface="Calibri" pitchFamily="34" charset="-120"/>
                        </a:rPr>
                        <a:t>K-Nearest Neighbours (k=3)</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500" dirty="0">
                          <a:solidFill>
                            <a:srgbClr val="15192A"/>
                          </a:solidFill>
                          <a:latin typeface="Calibri" pitchFamily="34" charset="0"/>
                          <a:ea typeface="Calibri" pitchFamily="34" charset="-122"/>
                          <a:cs typeface="Calibri" pitchFamily="34" charset="-120"/>
                        </a:rPr>
                        <a:t>96.99%</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500" dirty="0">
                          <a:solidFill>
                            <a:srgbClr val="15192A"/>
                          </a:solidFill>
                          <a:latin typeface="Calibri" pitchFamily="34" charset="0"/>
                          <a:ea typeface="Calibri" pitchFamily="34" charset="-122"/>
                          <a:cs typeface="Calibri" pitchFamily="34" charset="-120"/>
                        </a:rPr>
                        <a:t>301</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500" dirty="0">
                          <a:solidFill>
                            <a:srgbClr val="15192A"/>
                          </a:solidFill>
                          <a:latin typeface="Calibri" pitchFamily="34" charset="0"/>
                          <a:ea typeface="Calibri" pitchFamily="34" charset="-122"/>
                          <a:cs typeface="Calibri" pitchFamily="34" charset="-120"/>
                        </a:rPr>
                        <a:t>k-NN (L2): 95.0%</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502920">
                <a:tc>
                  <a:txBody>
                    <a:bodyPr/>
                    <a:lstStyle/>
                    <a:p>
                      <a:pPr algn="l" indent="0" marL="0">
                        <a:buNone/>
                      </a:pPr>
                      <a:r>
                        <a:rPr lang="en-US" sz="1500" dirty="0">
                          <a:solidFill>
                            <a:srgbClr val="15192A"/>
                          </a:solidFill>
                          <a:latin typeface="Calibri" pitchFamily="34" charset="0"/>
                          <a:ea typeface="Calibri" pitchFamily="34" charset="-122"/>
                          <a:cs typeface="Calibri" pitchFamily="34" charset="-120"/>
                        </a:rPr>
                        <a:t>Random Forest (100 trees)</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500" dirty="0">
                          <a:solidFill>
                            <a:srgbClr val="15192A"/>
                          </a:solidFill>
                          <a:latin typeface="Calibri" pitchFamily="34" charset="0"/>
                          <a:ea typeface="Calibri" pitchFamily="34" charset="-122"/>
                          <a:cs typeface="Calibri" pitchFamily="34" charset="-120"/>
                        </a:rPr>
                        <a:t>96.96%</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500" dirty="0">
                          <a:solidFill>
                            <a:srgbClr val="15192A"/>
                          </a:solidFill>
                          <a:latin typeface="Calibri" pitchFamily="34" charset="0"/>
                          <a:ea typeface="Calibri" pitchFamily="34" charset="-122"/>
                          <a:cs typeface="Calibri" pitchFamily="34" charset="-120"/>
                        </a:rPr>
                        <a:t>304</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500" dirty="0">
                          <a:solidFill>
                            <a:srgbClr val="1519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r h="502920">
                <a:tc>
                  <a:txBody>
                    <a:bodyPr/>
                    <a:lstStyle/>
                    <a:p>
                      <a:pPr algn="l" indent="0" marL="0">
                        <a:buNone/>
                      </a:pPr>
                      <a:r>
                        <a:rPr lang="en-US" sz="1500" dirty="0">
                          <a:solidFill>
                            <a:srgbClr val="15192A"/>
                          </a:solidFill>
                          <a:latin typeface="Calibri" pitchFamily="34" charset="0"/>
                          <a:ea typeface="Calibri" pitchFamily="34" charset="-122"/>
                          <a:cs typeface="Calibri" pitchFamily="34" charset="-120"/>
                        </a:rPr>
                        <a:t>Logistic Regression</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500" dirty="0">
                          <a:solidFill>
                            <a:srgbClr val="15192A"/>
                          </a:solidFill>
                          <a:latin typeface="Calibri" pitchFamily="34" charset="0"/>
                          <a:ea typeface="Calibri" pitchFamily="34" charset="-122"/>
                          <a:cs typeface="Calibri" pitchFamily="34" charset="-120"/>
                        </a:rPr>
                        <a:t>92.45%</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500" dirty="0">
                          <a:solidFill>
                            <a:srgbClr val="15192A"/>
                          </a:solidFill>
                          <a:latin typeface="Calibri" pitchFamily="34" charset="0"/>
                          <a:ea typeface="Calibri" pitchFamily="34" charset="-122"/>
                          <a:cs typeface="Calibri" pitchFamily="34" charset="-120"/>
                        </a:rPr>
                        <a:t>755</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c>
                  <a:txBody>
                    <a:bodyPr/>
                    <a:lstStyle/>
                    <a:p>
                      <a:pPr algn="ctr" indent="0" marL="0">
                        <a:buNone/>
                      </a:pPr>
                      <a:r>
                        <a:rPr lang="en-US" sz="1500" dirty="0">
                          <a:solidFill>
                            <a:srgbClr val="15192A"/>
                          </a:solidFill>
                          <a:latin typeface="Calibri" pitchFamily="34" charset="0"/>
                          <a:ea typeface="Calibri" pitchFamily="34" charset="-122"/>
                          <a:cs typeface="Calibri" pitchFamily="34" charset="-120"/>
                        </a:rPr>
                        <a:t>Linear classifier: 88.0%</a:t>
                      </a:r>
                      <a:endParaRPr lang="en-US" sz="1500" dirty="0">
                        <a:latin typeface="Calibri" charset="0"/>
                        <a:ea typeface="Calibri" charset="0"/>
                        <a:cs typeface="Calibri" charset="0"/>
                      </a:endParaRPr>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tcPr>
                </a:tc>
              </a:tr>
            </a:tbl>
          </a:graphicData>
        </a:graphic>
      </p:graphicFrame>
      <p:sp>
        <p:nvSpPr>
          <p:cNvPr id="4" name="TK 1 circle"/>
          <p:cNvSpPr/>
          <p:nvPr/>
        </p:nvSpPr>
        <p:spPr>
          <a:xfrm>
            <a:off x="548640" y="4754880"/>
            <a:ext cx="594360" cy="594360"/>
          </a:xfrm>
          <a:prstGeom prst="ellipse">
            <a:avLst/>
          </a:prstGeom>
          <a:solidFill>
            <a:schemeClr val="accent1"/>
          </a:solidFill>
          <a:ln/>
        </p:spPr>
      </p:sp>
      <p:pic>
        <p:nvPicPr>
          <p:cNvPr id="5" name="TK 1 icon" descr="preencoded.png">    </p:cNvPr>
          <p:cNvPicPr>
            <a:picLocks noChangeAspect="1"/>
          </p:cNvPicPr>
          <p:nvPr/>
        </p:nvPicPr>
        <p:blipFill>
          <a:blip r:embed="rId1"/>
          <a:stretch>
            <a:fillRect/>
          </a:stretch>
        </p:blipFill>
        <p:spPr>
          <a:xfrm>
            <a:off x="691286" y="4897526"/>
            <a:ext cx="309067" cy="309067"/>
          </a:xfrm>
          <a:prstGeom prst="rect">
            <a:avLst/>
          </a:prstGeom>
        </p:spPr>
      </p:pic>
      <p:sp>
        <p:nvSpPr>
          <p:cNvPr id="6" name="TK 1 text"/>
          <p:cNvSpPr txBox="1"/>
          <p:nvPr/>
        </p:nvSpPr>
        <p:spPr>
          <a:xfrm>
            <a:off x="1280160" y="4709160"/>
            <a:ext cx="2834640" cy="1188720"/>
          </a:xfrm>
          <a:prstGeom prst="rect">
            <a:avLst/>
          </a:prstGeom>
          <a:noFill/>
          <a:ln/>
        </p:spPr>
        <p:txBody>
          <a:bodyPr wrap="square" lIns="0" tIns="0" rIns="0" bIns="0" rtlCol="0" anchor="t"/>
          <a:lstStyle/>
          <a:p>
            <a:pPr indent="0" marL="0">
              <a:buNone/>
            </a:pPr>
            <a:r>
              <a:rPr lang="en-US" sz="1600" b="1" dirty="0">
                <a:solidFill>
                  <a:schemeClr val="tx2"/>
                </a:solidFill>
              </a:rPr>
              <a:t>CNN is best</a:t>
            </a:r>
            <a:endParaRPr lang="en-US" sz="1600" dirty="0"/>
          </a:p>
          <a:p>
            <a:pPr indent="0" marL="0">
              <a:buNone/>
            </a:pPr>
            <a:r>
              <a:rPr lang="en-US" sz="1400" dirty="0">
                <a:solidFill>
                  <a:schemeClr val="tx1"/>
                </a:solidFill>
              </a:rPr>
              <a:t>Its filters beat every method that uses flat pixels</a:t>
            </a:r>
            <a:endParaRPr lang="en-US" sz="1600" dirty="0"/>
          </a:p>
        </p:txBody>
      </p:sp>
      <p:sp>
        <p:nvSpPr>
          <p:cNvPr id="7" name="TK 2 circle"/>
          <p:cNvSpPr/>
          <p:nvPr/>
        </p:nvSpPr>
        <p:spPr>
          <a:xfrm>
            <a:off x="4297680" y="4754880"/>
            <a:ext cx="594360" cy="594360"/>
          </a:xfrm>
          <a:prstGeom prst="ellipse">
            <a:avLst/>
          </a:prstGeom>
          <a:solidFill>
            <a:schemeClr val="accent1"/>
          </a:solidFill>
          <a:ln/>
        </p:spPr>
      </p:sp>
      <p:pic>
        <p:nvPicPr>
          <p:cNvPr id="8" name="TK 2 icon" descr="preencoded.png">    </p:cNvPr>
          <p:cNvPicPr>
            <a:picLocks noChangeAspect="1"/>
          </p:cNvPicPr>
          <p:nvPr/>
        </p:nvPicPr>
        <p:blipFill>
          <a:blip r:embed="rId2"/>
          <a:stretch>
            <a:fillRect/>
          </a:stretch>
        </p:blipFill>
        <p:spPr>
          <a:xfrm>
            <a:off x="4440326" y="4897526"/>
            <a:ext cx="309067" cy="309067"/>
          </a:xfrm>
          <a:prstGeom prst="rect">
            <a:avLst/>
          </a:prstGeom>
        </p:spPr>
      </p:pic>
      <p:sp>
        <p:nvSpPr>
          <p:cNvPr id="9" name="TK 2 text"/>
          <p:cNvSpPr txBox="1"/>
          <p:nvPr/>
        </p:nvSpPr>
        <p:spPr>
          <a:xfrm>
            <a:off x="5029200" y="4709160"/>
            <a:ext cx="2834640" cy="1188720"/>
          </a:xfrm>
          <a:prstGeom prst="rect">
            <a:avLst/>
          </a:prstGeom>
          <a:noFill/>
          <a:ln/>
        </p:spPr>
        <p:txBody>
          <a:bodyPr wrap="square" lIns="0" tIns="0" rIns="0" bIns="0" rtlCol="0" anchor="t"/>
          <a:lstStyle/>
          <a:p>
            <a:pPr indent="0" marL="0">
              <a:buNone/>
            </a:pPr>
            <a:r>
              <a:rPr lang="en-US" sz="1600" b="1" dirty="0">
                <a:solidFill>
                  <a:schemeClr val="tx2"/>
                </a:solidFill>
              </a:rPr>
              <a:t>Fewer parameters</a:t>
            </a:r>
            <a:endParaRPr lang="en-US" sz="1600" dirty="0"/>
          </a:p>
          <a:p>
            <a:pPr indent="0" marL="0">
              <a:buNone/>
            </a:pPr>
            <a:r>
              <a:rPr lang="en-US" sz="1400" dirty="0">
                <a:solidFill>
                  <a:schemeClr val="tx1"/>
                </a:solidFill>
              </a:rPr>
              <a:t>CNN 34,826 vs dense 109,386</a:t>
            </a:r>
            <a:endParaRPr lang="en-US" sz="1600" dirty="0"/>
          </a:p>
        </p:txBody>
      </p:sp>
      <p:sp>
        <p:nvSpPr>
          <p:cNvPr id="10" name="TK 3 circle"/>
          <p:cNvSpPr/>
          <p:nvPr/>
        </p:nvSpPr>
        <p:spPr>
          <a:xfrm>
            <a:off x="8046720" y="4754880"/>
            <a:ext cx="594360" cy="594360"/>
          </a:xfrm>
          <a:prstGeom prst="ellipse">
            <a:avLst/>
          </a:prstGeom>
          <a:solidFill>
            <a:schemeClr val="accent1"/>
          </a:solidFill>
          <a:ln/>
        </p:spPr>
      </p:sp>
      <p:pic>
        <p:nvPicPr>
          <p:cNvPr id="11" name="TK 3 icon" descr="preencoded.png">    </p:cNvPr>
          <p:cNvPicPr>
            <a:picLocks noChangeAspect="1"/>
          </p:cNvPicPr>
          <p:nvPr/>
        </p:nvPicPr>
        <p:blipFill>
          <a:blip r:embed="rId3"/>
          <a:stretch>
            <a:fillRect/>
          </a:stretch>
        </p:blipFill>
        <p:spPr>
          <a:xfrm>
            <a:off x="8189366" y="4897526"/>
            <a:ext cx="309067" cy="309067"/>
          </a:xfrm>
          <a:prstGeom prst="rect">
            <a:avLst/>
          </a:prstGeom>
        </p:spPr>
      </p:pic>
      <p:sp>
        <p:nvSpPr>
          <p:cNvPr id="12" name="TK 3 text"/>
          <p:cNvSpPr txBox="1"/>
          <p:nvPr/>
        </p:nvSpPr>
        <p:spPr>
          <a:xfrm>
            <a:off x="8778240" y="4709160"/>
            <a:ext cx="2834640" cy="1188720"/>
          </a:xfrm>
          <a:prstGeom prst="rect">
            <a:avLst/>
          </a:prstGeom>
          <a:noFill/>
          <a:ln/>
        </p:spPr>
        <p:txBody>
          <a:bodyPr wrap="square" lIns="0" tIns="0" rIns="0" bIns="0" rtlCol="0" anchor="t"/>
          <a:lstStyle/>
          <a:p>
            <a:pPr indent="0" marL="0">
              <a:buNone/>
            </a:pPr>
            <a:r>
              <a:rPr lang="en-US" sz="1600" b="1" dirty="0">
                <a:solidFill>
                  <a:schemeClr val="tx2"/>
                </a:solidFill>
              </a:rPr>
              <a:t>Compared with research</a:t>
            </a:r>
            <a:endParaRPr lang="en-US" sz="1600" dirty="0"/>
          </a:p>
          <a:p>
            <a:pPr indent="0" marL="0">
              <a:buNone/>
            </a:pPr>
            <a:r>
              <a:rPr lang="en-US" sz="1400" dirty="0">
                <a:solidFill>
                  <a:schemeClr val="tx1"/>
                </a:solidFill>
              </a:rPr>
              <a:t>The CNN is slightly better than LeNet-5 (1998)</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Prediction system: reading your handwriting</a:t>
            </a:r>
            <a:endParaRPr lang="en-US" sz="3200" dirty="0"/>
          </a:p>
        </p:txBody>
      </p:sp>
      <p:pic>
        <p:nvPicPr>
          <p:cNvPr id="3" name="Pipeline" descr="/home/claude/project2/mnist-digit-classification-nn/results/figures/13_preprocessing_pipeline.png">    </p:cNvPr>
          <p:cNvPicPr>
            <a:picLocks noChangeAspect="1"/>
          </p:cNvPicPr>
          <p:nvPr/>
        </p:nvPicPr>
        <p:blipFill>
          <a:blip r:embed="rId1"/>
          <a:stretch>
            <a:fillRect/>
          </a:stretch>
        </p:blipFill>
        <p:spPr>
          <a:xfrm>
            <a:off x="457200" y="1260210"/>
            <a:ext cx="6766560" cy="1822981"/>
          </a:xfrm>
          <a:prstGeom prst="rect">
            <a:avLst/>
          </a:prstGeom>
        </p:spPr>
      </p:pic>
      <p:sp>
        <p:nvSpPr>
          <p:cNvPr id="4" name="Hard test card"/>
          <p:cNvSpPr/>
          <p:nvPr/>
        </p:nvSpPr>
        <p:spPr>
          <a:xfrm>
            <a:off x="548640" y="3383280"/>
            <a:ext cx="3200400" cy="2377440"/>
          </a:xfrm>
          <a:prstGeom prst="roundRect">
            <a:avLst>
              <a:gd name="adj" fmla="val 4615"/>
            </a:avLst>
          </a:prstGeom>
          <a:solidFill>
            <a:schemeClr val="tx2"/>
          </a:solidFill>
          <a:ln/>
        </p:spPr>
      </p:sp>
      <p:sp>
        <p:nvSpPr>
          <p:cNvPr id="5" name="Hard test text"/>
          <p:cNvSpPr txBox="1"/>
          <p:nvPr/>
        </p:nvSpPr>
        <p:spPr>
          <a:xfrm>
            <a:off x="777240" y="3520440"/>
            <a:ext cx="2788920" cy="2468880"/>
          </a:xfrm>
          <a:prstGeom prst="rect">
            <a:avLst/>
          </a:prstGeom>
          <a:noFill/>
          <a:ln/>
        </p:spPr>
        <p:txBody>
          <a:bodyPr wrap="square" lIns="0" tIns="0" rIns="0" bIns="0" rtlCol="0" anchor="t"/>
          <a:lstStyle/>
          <a:p>
            <a:pPr indent="0" marL="0">
              <a:buNone/>
            </a:pPr>
            <a:r>
              <a:rPr lang="en-US" sz="3600" b="1" dirty="0">
                <a:solidFill>
                  <a:schemeClr val="bg1"/>
                </a:solidFill>
                <a:latin typeface="Century Schoolbook" pitchFamily="34" charset="0"/>
                <a:ea typeface="Century Schoolbook" pitchFamily="34" charset="-122"/>
                <a:cs typeface="Century Schoolbook" pitchFamily="34" charset="-120"/>
              </a:rPr>
              <a:t>16 / 30</a:t>
            </a:r>
            <a:endParaRPr lang="en-US" sz="3600" dirty="0"/>
          </a:p>
          <a:p>
            <a:pPr indent="0" marL="0">
              <a:buNone/>
            </a:pPr>
            <a:r>
              <a:rPr lang="en-US" sz="1400" dirty="0">
                <a:solidFill>
                  <a:schemeClr val="accent6"/>
                </a:solidFill>
              </a:rPr>
              <a:t>photo-style digits read correctly with MNIST-style preprocessing</a:t>
            </a:r>
            <a:endParaRPr lang="en-US" sz="3600" dirty="0"/>
          </a:p>
          <a:p>
            <a:pPr indent="0" marL="0">
              <a:buNone/>
            </a:pPr>
            <a:r>
              <a:rPr lang="en-US" sz="2400" b="1" dirty="0">
                <a:solidFill>
                  <a:schemeClr val="bg1"/>
                </a:solidFill>
                <a:latin typeface="Century Schoolbook" pitchFamily="34" charset="0"/>
                <a:ea typeface="Century Schoolbook" pitchFamily="34" charset="-122"/>
                <a:cs typeface="Century Schoolbook" pitchFamily="34" charset="-120"/>
              </a:rPr>
              <a:t>vs 4 / 30</a:t>
            </a:r>
            <a:endParaRPr lang="en-US" sz="3600" dirty="0"/>
          </a:p>
          <a:p>
            <a:pPr indent="0" marL="0">
              <a:buNone/>
            </a:pPr>
            <a:r>
              <a:rPr lang="en-US" sz="1400" dirty="0">
                <a:solidFill>
                  <a:schemeClr val="accent6"/>
                </a:solidFill>
              </a:rPr>
              <a:t>with the starter code's plain resize</a:t>
            </a:r>
            <a:endParaRPr lang="en-US" sz="3600" dirty="0"/>
          </a:p>
        </p:txBody>
      </p:sp>
      <p:sp>
        <p:nvSpPr>
          <p:cNvPr id="6" name="Ways text"/>
          <p:cNvSpPr txBox="1"/>
          <p:nvPr/>
        </p:nvSpPr>
        <p:spPr>
          <a:xfrm>
            <a:off x="4023360" y="3429000"/>
            <a:ext cx="3200400" cy="265176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Three ways to try it</a:t>
            </a:r>
            <a:endParaRPr lang="en-US" sz="1450" dirty="0"/>
          </a:p>
          <a:p>
            <a:pPr marL="342900" indent="-342900">
              <a:spcAft>
                <a:spcPts val="600"/>
              </a:spcAft>
              <a:buSzPct val="100000"/>
              <a:buChar char="•"/>
            </a:pPr>
            <a:r>
              <a:rPr lang="en-US" sz="1450" dirty="0">
                <a:solidFill>
                  <a:schemeClr val="tx1"/>
                </a:solidFill>
              </a:rPr>
              <a:t>Colab: draw on a canvas with mouse or finger</a:t>
            </a:r>
            <a:endParaRPr lang="en-US" sz="1450" dirty="0"/>
          </a:p>
          <a:p>
            <a:pPr marL="342900" indent="-342900">
              <a:spcAft>
                <a:spcPts val="600"/>
              </a:spcAft>
              <a:buSzPct val="100000"/>
              <a:buChar char="•"/>
            </a:pPr>
            <a:r>
              <a:rPr lang="en-US" sz="1450" dirty="0">
                <a:solidFill>
                  <a:schemeClr val="tx1"/>
                </a:solidFill>
              </a:rPr>
              <a:t>Upload a photo of a digit on paper, or run python -m src.predict --image</a:t>
            </a:r>
            <a:endParaRPr lang="en-US" sz="1450" dirty="0"/>
          </a:p>
          <a:p>
            <a:pPr marL="342900" indent="-342900">
              <a:spcAft>
                <a:spcPts val="600"/>
              </a:spcAft>
              <a:buSzPct val="100000"/>
              <a:buChar char="•"/>
            </a:pPr>
            <a:r>
              <a:rPr lang="en-US" sz="1450" dirty="0">
                <a:solidFill>
                  <a:schemeClr val="tx1"/>
                </a:solidFill>
              </a:rPr>
              <a:t>Browser demo: draw and see the CNN's answer instantly, offline</a:t>
            </a:r>
            <a:endParaRPr lang="en-US" sz="1450" dirty="0"/>
          </a:p>
        </p:txBody>
      </p:sp>
      <p:pic>
        <p:nvPicPr>
          <p:cNvPr id="7" name="Web demo" descr="/home/claude/project2/mnist-digit-classification-nn/screenshots/08_web_demo_digit_reader.png">    </p:cNvPr>
          <p:cNvPicPr>
            <a:picLocks noChangeAspect="1"/>
          </p:cNvPicPr>
          <p:nvPr/>
        </p:nvPicPr>
        <p:blipFill>
          <a:blip r:embed="rId2"/>
          <a:stretch>
            <a:fillRect/>
          </a:stretch>
        </p:blipFill>
        <p:spPr>
          <a:xfrm>
            <a:off x="7498080" y="2094357"/>
            <a:ext cx="4206240" cy="3172206"/>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entury Schoolbook" pitchFamily="34" charset="0"/>
                <a:ea typeface="Century Schoolbook" pitchFamily="34" charset="-122"/>
                <a:cs typeface="Century Schoolbook" pitchFamily="34" charset="-120"/>
              </a:rPr>
              <a:t>Conclusion and future scope</a:t>
            </a:r>
            <a:endParaRPr lang="en-US" sz="3200" dirty="0"/>
          </a:p>
        </p:txBody>
      </p:sp>
      <p:sp>
        <p:nvSpPr>
          <p:cNvPr id="3" name="Conclusion card"/>
          <p:cNvSpPr/>
          <p:nvPr/>
        </p:nvSpPr>
        <p:spPr>
          <a:xfrm>
            <a:off x="548640" y="1371600"/>
            <a:ext cx="5394960" cy="4206240"/>
          </a:xfrm>
          <a:prstGeom prst="roundRect">
            <a:avLst>
              <a:gd name="adj" fmla="val 2609"/>
            </a:avLst>
          </a:prstGeom>
          <a:solidFill>
            <a:schemeClr val="bg2"/>
          </a:solidFill>
          <a:ln/>
        </p:spPr>
      </p:sp>
      <p:sp>
        <p:nvSpPr>
          <p:cNvPr id="4" name="Conclusion circle"/>
          <p:cNvSpPr/>
          <p:nvPr/>
        </p:nvSpPr>
        <p:spPr>
          <a:xfrm>
            <a:off x="777240" y="1554480"/>
            <a:ext cx="594360" cy="594360"/>
          </a:xfrm>
          <a:prstGeom prst="ellipse">
            <a:avLst/>
          </a:prstGeom>
          <a:solidFill>
            <a:schemeClr val="accent1"/>
          </a:solidFill>
          <a:ln/>
        </p:spPr>
      </p:sp>
      <p:pic>
        <p:nvPicPr>
          <p:cNvPr id="5" name="Conclusion icon" descr="preencoded.png">    </p:cNvPr>
          <p:cNvPicPr>
            <a:picLocks noChangeAspect="1"/>
          </p:cNvPicPr>
          <p:nvPr/>
        </p:nvPicPr>
        <p:blipFill>
          <a:blip r:embed="rId1"/>
          <a:stretch>
            <a:fillRect/>
          </a:stretch>
        </p:blipFill>
        <p:spPr>
          <a:xfrm>
            <a:off x="919886" y="1697126"/>
            <a:ext cx="309067" cy="309067"/>
          </a:xfrm>
          <a:prstGeom prst="rect">
            <a:avLst/>
          </a:prstGeom>
        </p:spPr>
      </p:pic>
      <p:sp>
        <p:nvSpPr>
          <p:cNvPr id="6" name="Conclusion head"/>
          <p:cNvSpPr txBox="1"/>
          <p:nvPr/>
        </p:nvSpPr>
        <p:spPr>
          <a:xfrm>
            <a:off x="1508760" y="1554480"/>
            <a:ext cx="4114800" cy="594360"/>
          </a:xfrm>
          <a:prstGeom prst="rect">
            <a:avLst/>
          </a:prstGeom>
          <a:noFill/>
          <a:ln/>
        </p:spPr>
        <p:txBody>
          <a:bodyPr wrap="square" lIns="0" tIns="0" rIns="0" bIns="0" rtlCol="0" anchor="ctr"/>
          <a:lstStyle/>
          <a:p>
            <a:pPr indent="0" marL="0">
              <a:buNone/>
            </a:pPr>
            <a:r>
              <a:rPr lang="en-US" sz="2000" b="1" dirty="0">
                <a:solidFill>
                  <a:schemeClr val="tx2"/>
                </a:solidFill>
              </a:rPr>
              <a:t>Conclusion</a:t>
            </a:r>
            <a:endParaRPr lang="en-US" sz="2000" dirty="0"/>
          </a:p>
        </p:txBody>
      </p:sp>
      <p:sp>
        <p:nvSpPr>
          <p:cNvPr id="7" name="Conclusion text"/>
          <p:cNvSpPr txBox="1"/>
          <p:nvPr/>
        </p:nvSpPr>
        <p:spPr>
          <a:xfrm>
            <a:off x="777240" y="2377440"/>
            <a:ext cx="498348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Dense network: 97.93%; CNN: 99.19%. Both beat the 95% target</a:t>
            </a:r>
            <a:endParaRPr lang="en-US" sz="1800" dirty="0"/>
          </a:p>
          <a:p>
            <a:pPr marL="342900" indent="-342900">
              <a:spcAft>
                <a:spcPts val="1400"/>
              </a:spcAft>
              <a:buSzPct val="100000"/>
              <a:buChar char="•"/>
            </a:pPr>
            <a:r>
              <a:rPr lang="en-US" sz="1800" dirty="0">
                <a:solidFill>
                  <a:schemeClr val="tx1"/>
                </a:solidFill>
              </a:rPr>
              <a:t>The CNN makes less than half the errors with 3× fewer parameters</a:t>
            </a:r>
            <a:endParaRPr lang="en-US" sz="1800" dirty="0"/>
          </a:p>
          <a:p>
            <a:pPr marL="342900" indent="-342900">
              <a:spcAft>
                <a:spcPts val="1400"/>
              </a:spcAft>
              <a:buSzPct val="100000"/>
              <a:buChar char="•"/>
            </a:pPr>
            <a:r>
              <a:rPr lang="en-US" sz="1800" dirty="0">
                <a:solidFill>
                  <a:schemeClr val="tx1"/>
                </a:solidFill>
              </a:rPr>
              <a:t>Confidence scores flag most mistakes</a:t>
            </a:r>
            <a:endParaRPr lang="en-US" sz="1800" dirty="0"/>
          </a:p>
          <a:p>
            <a:pPr marL="342900" indent="-342900">
              <a:spcAft>
                <a:spcPts val="1400"/>
              </a:spcAft>
              <a:buSzPct val="100000"/>
              <a:buChar char="•"/>
            </a:pPr>
            <a:r>
              <a:rPr lang="en-US" sz="1800" dirty="0">
                <a:solidFill>
                  <a:schemeClr val="tx1"/>
                </a:solidFill>
              </a:rPr>
              <a:t>Preparing user images like MNIST is important for real handwriting</a:t>
            </a:r>
            <a:endParaRPr lang="en-US" sz="1800" dirty="0"/>
          </a:p>
        </p:txBody>
      </p:sp>
      <p:sp>
        <p:nvSpPr>
          <p:cNvPr id="8" name="Future card"/>
          <p:cNvSpPr/>
          <p:nvPr/>
        </p:nvSpPr>
        <p:spPr>
          <a:xfrm>
            <a:off x="6217920" y="1371600"/>
            <a:ext cx="5394960" cy="4206240"/>
          </a:xfrm>
          <a:prstGeom prst="roundRect">
            <a:avLst>
              <a:gd name="adj" fmla="val 2609"/>
            </a:avLst>
          </a:prstGeom>
          <a:solidFill>
            <a:schemeClr val="accent6"/>
          </a:solidFill>
          <a:ln/>
        </p:spPr>
      </p:sp>
      <p:sp>
        <p:nvSpPr>
          <p:cNvPr id="9" name="Future circle"/>
          <p:cNvSpPr/>
          <p:nvPr/>
        </p:nvSpPr>
        <p:spPr>
          <a:xfrm>
            <a:off x="6446520" y="1554480"/>
            <a:ext cx="594360" cy="594360"/>
          </a:xfrm>
          <a:prstGeom prst="ellipse">
            <a:avLst/>
          </a:prstGeom>
          <a:solidFill>
            <a:schemeClr val="accent1"/>
          </a:solidFill>
          <a:ln/>
        </p:spPr>
      </p:sp>
      <p:pic>
        <p:nvPicPr>
          <p:cNvPr id="10" name="Future icon" descr="preencoded.png">    </p:cNvPr>
          <p:cNvPicPr>
            <a:picLocks noChangeAspect="1"/>
          </p:cNvPicPr>
          <p:nvPr/>
        </p:nvPicPr>
        <p:blipFill>
          <a:blip r:embed="rId2"/>
          <a:stretch>
            <a:fillRect/>
          </a:stretch>
        </p:blipFill>
        <p:spPr>
          <a:xfrm>
            <a:off x="6589166" y="1697126"/>
            <a:ext cx="309067" cy="309067"/>
          </a:xfrm>
          <a:prstGeom prst="rect">
            <a:avLst/>
          </a:prstGeom>
        </p:spPr>
      </p:pic>
      <p:sp>
        <p:nvSpPr>
          <p:cNvPr id="11" name="Future head"/>
          <p:cNvSpPr txBox="1"/>
          <p:nvPr/>
        </p:nvSpPr>
        <p:spPr>
          <a:xfrm>
            <a:off x="7178040" y="1554480"/>
            <a:ext cx="4114800" cy="594360"/>
          </a:xfrm>
          <a:prstGeom prst="rect">
            <a:avLst/>
          </a:prstGeom>
          <a:noFill/>
          <a:ln/>
        </p:spPr>
        <p:txBody>
          <a:bodyPr wrap="square" lIns="0" tIns="0" rIns="0" bIns="0" rtlCol="0" anchor="ctr"/>
          <a:lstStyle/>
          <a:p>
            <a:pPr indent="0" marL="0">
              <a:buNone/>
            </a:pPr>
            <a:r>
              <a:rPr lang="en-US" sz="2000" b="1" dirty="0">
                <a:solidFill>
                  <a:schemeClr val="tx2"/>
                </a:solidFill>
              </a:rPr>
              <a:t>Future scope</a:t>
            </a:r>
            <a:endParaRPr lang="en-US" sz="2000" dirty="0"/>
          </a:p>
        </p:txBody>
      </p:sp>
      <p:sp>
        <p:nvSpPr>
          <p:cNvPr id="12" name="Future text"/>
          <p:cNvSpPr txBox="1"/>
          <p:nvPr/>
        </p:nvSpPr>
        <p:spPr>
          <a:xfrm>
            <a:off x="6446520" y="2377440"/>
            <a:ext cx="4983480" cy="31089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Data augmentation: rotations, shifts, distortions</a:t>
            </a:r>
            <a:endParaRPr lang="en-US" sz="1800" dirty="0"/>
          </a:p>
          <a:p>
            <a:pPr marL="342900" indent="-342900">
              <a:spcAft>
                <a:spcPts val="1200"/>
              </a:spcAft>
              <a:buSzPct val="100000"/>
              <a:buChar char="•"/>
            </a:pPr>
            <a:r>
              <a:rPr lang="en-US" sz="1800" dirty="0">
                <a:solidFill>
                  <a:schemeClr val="tx1"/>
                </a:solidFill>
              </a:rPr>
              <a:t>Deeper CNNs with batch normalisation</a:t>
            </a:r>
            <a:endParaRPr lang="en-US" sz="1800" dirty="0"/>
          </a:p>
          <a:p>
            <a:pPr marL="342900" indent="-342900">
              <a:spcAft>
                <a:spcPts val="1200"/>
              </a:spcAft>
              <a:buSzPct val="100000"/>
              <a:buChar char="•"/>
            </a:pPr>
            <a:r>
              <a:rPr lang="en-US" sz="1800" dirty="0">
                <a:solidFill>
                  <a:schemeClr val="tx1"/>
                </a:solidFill>
              </a:rPr>
              <a:t>Multi-digit numbers and letters (EMNIST)</a:t>
            </a:r>
            <a:endParaRPr lang="en-US" sz="1800" dirty="0"/>
          </a:p>
          <a:p>
            <a:pPr marL="342900" indent="-342900">
              <a:spcAft>
                <a:spcPts val="1200"/>
              </a:spcAft>
              <a:buSzPct val="100000"/>
              <a:buChar char="•"/>
            </a:pPr>
            <a:r>
              <a:rPr lang="en-US" sz="1800" dirty="0">
                <a:solidFill>
                  <a:schemeClr val="tx1"/>
                </a:solidFill>
              </a:rPr>
              <a:t>Reject unclear input using confidence</a:t>
            </a:r>
            <a:endParaRPr lang="en-US" sz="1800" dirty="0"/>
          </a:p>
          <a:p>
            <a:pPr marL="342900" indent="-342900">
              <a:spcAft>
                <a:spcPts val="1200"/>
              </a:spcAft>
              <a:buSzPct val="100000"/>
              <a:buChar char="•"/>
            </a:pPr>
            <a:r>
              <a:rPr lang="en-US" sz="1800" dirty="0">
                <a:solidFill>
                  <a:schemeClr val="tx1"/>
                </a:solidFill>
              </a:rPr>
              <a:t>Mobile app with TensorFlow Lite</a:t>
            </a:r>
            <a:endParaRPr lang="en-US" sz="1800" dirty="0"/>
          </a:p>
        </p:txBody>
      </p:sp>
      <p:sp>
        <p:nvSpPr>
          <p:cNvPr id="13" name="Thanks"/>
          <p:cNvSpPr txBox="1"/>
          <p:nvPr/>
        </p:nvSpPr>
        <p:spPr>
          <a:xfrm>
            <a:off x="548640" y="5715000"/>
            <a:ext cx="11064240" cy="411480"/>
          </a:xfrm>
          <a:prstGeom prst="rect">
            <a:avLst/>
          </a:prstGeom>
          <a:noFill/>
          <a:ln/>
        </p:spPr>
        <p:txBody>
          <a:bodyPr wrap="square" lIns="0" tIns="0" rIns="0" bIns="0" rtlCol="0" anchor="ctr"/>
          <a:lstStyle/>
          <a:p>
            <a:pPr indent="0" marL="0">
              <a:buNone/>
            </a:pPr>
            <a:r>
              <a:rPr lang="en-US" sz="1500" b="1" dirty="0">
                <a:solidFill>
                  <a:schemeClr val="tx2"/>
                </a:solidFill>
              </a:rPr>
              <a:t>Thank you · Questions?   </a:t>
            </a:r>
            <a:pPr indent="0" marL="0">
              <a:buNone/>
            </a:pPr>
            <a:r>
              <a:rPr lang="en-US" sz="1500" dirty="0">
                <a:solidFill>
                  <a:schemeClr val="accent1"/>
                </a:solidFill>
              </a:rPr>
              <a:t>github.com/sangini-agrawal/mnist-digit-classification-nn</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Ink Notebook">
  <a:themeElements>
    <a:clrScheme name="Ink Notebook">
      <a:dk1>
        <a:srgbClr val="15192A"/>
      </a:dk1>
      <a:lt1>
        <a:srgbClr val="FFFFFF"/>
      </a:lt1>
      <a:dk2>
        <a:srgbClr val="1C2742"/>
      </a:dk2>
      <a:lt2>
        <a:srgbClr val="F3F5F9"/>
      </a:lt2>
      <a:accent1>
        <a:srgbClr val="2A5BD7"/>
      </a:accent1>
      <a:accent2>
        <a:srgbClr val="2A78D6"/>
      </a:accent2>
      <a:accent3>
        <a:srgbClr val="EB6834"/>
      </a:accent3>
      <a:accent4>
        <a:srgbClr val="1BAF7A"/>
      </a:accent4>
      <a:accent5>
        <a:srgbClr val="5D6472"/>
      </a:accent5>
      <a:accent6>
        <a:srgbClr val="E3EAFB"/>
      </a:accent6>
      <a:hlink>
        <a:srgbClr val="2A5BD7"/>
      </a:hlink>
      <a:folHlink>
        <a:srgbClr val="6250D6"/>
      </a:folHlink>
    </a:clrScheme>
    <a:fontScheme name="Ink Notebook">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Naviotech Solution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Handwritten Digit Recognition using Neural Networks</dc:title>
  <dc:subject>PptxGenJS Presentation</dc:subject>
  <dc:creator>Sangini Agrawal</dc:creator>
  <cp:lastModifiedBy>Sangini Agrawal</cp:lastModifiedBy>
  <cp:revision>1</cp:revision>
  <dcterms:created xsi:type="dcterms:W3CDTF">2026-10-28T20:01:33Z</dcterms:created>
  <dcterms:modified xsi:type="dcterms:W3CDTF">2026-10-28T20:01:33Z</dcterms:modified>
</cp:coreProperties>
</file>